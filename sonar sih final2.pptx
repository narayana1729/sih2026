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0" r:id="rId3"/>
    <p:sldId id="297" r:id="rId4"/>
    <p:sldId id="299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xjs.ac.cn/en/article/doi/10.3969/j.issn1000-3630.2014.03.018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6500159" TargetMode="External"/><Relationship Id="rId5" Type="http://schemas.openxmlformats.org/officeDocument/2006/relationships/hyperlink" Target="https://pubs.aip.org/asa/jasa/article-abstract/72/3/896/774694/Sound-absorption-based-on-ocean-measurements-Part" TargetMode="External"/><Relationship Id="rId4" Type="http://schemas.openxmlformats.org/officeDocument/2006/relationships/hyperlink" Target="https://pubs.aip.org/asa/jasa/article-abstract/103/3/1671/557895/A-simplified-formula-for-viscous-and-chemic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04091" y="189876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33151" y="68168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597459"/>
            <a:ext cx="5924550" cy="5886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ID –</a:t>
            </a:r>
            <a:r>
              <a:rPr lang="en-IN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26058</a:t>
            </a: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</a:t>
            </a:r>
            <a:r>
              <a:rPr lang="en-US" sz="1400" b="1" dirty="0">
                <a:latin typeface="Arial"/>
                <a:ea typeface="ＭＳ Ｐゴシック"/>
                <a:cs typeface="Arial"/>
              </a:rPr>
              <a:t>-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Development of a Low-Power, Real-Time Adaptive Software-Defined Sonar Transmitter Payload for Autonomous Underwater Vehicles (AUVs)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Robotics and Drones</a:t>
            </a:r>
            <a:endParaRPr 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ID- 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VCE-SIH26-009</a:t>
            </a:r>
            <a:endParaRPr 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Name:- 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ea typeface="ＭＳ Ｐゴシック"/>
                <a:cs typeface="Arial"/>
              </a:rPr>
              <a:t>Still-thinking</a:t>
            </a:r>
            <a:endParaRPr lang="en-IN" sz="2400" b="1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246" y="-1003"/>
            <a:ext cx="2249850" cy="1062337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4512937" y="4767112"/>
            <a:ext cx="1544589" cy="149272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850" b="1">
                <a:solidFill>
                  <a:srgbClr val="F6F9FC"/>
                </a:solidFill>
                <a:latin typeface="Aptos"/>
              </a:rPr>
              <a:t>APLITUDE / SIGNAL POWER</a:t>
            </a:r>
          </a:p>
        </p:txBody>
      </p:sp>
      <p:sp>
        <p:nvSpPr>
          <p:cNvPr id="104" name="Oval 103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531" y="152400"/>
            <a:ext cx="13400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Still-thinking</a:t>
            </a:r>
            <a:endParaRPr lang="en-IN"/>
          </a:p>
        </p:txBody>
      </p:sp>
      <p:sp>
        <p:nvSpPr>
          <p:cNvPr id="105" name="Title 1"/>
          <p:cNvSpPr txBox="1">
            <a:spLocks/>
          </p:cNvSpPr>
          <p:nvPr/>
        </p:nvSpPr>
        <p:spPr>
          <a:xfrm>
            <a:off x="254442" y="-319254"/>
            <a:ext cx="10972800" cy="11430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3645" y="1059464"/>
            <a:ext cx="1008509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500">
                <a:latin typeface="Arial" pitchFamily="34" charset="0"/>
                <a:cs typeface="Arial" pitchFamily="34" charset="0"/>
              </a:rPr>
              <a:t>A </a:t>
            </a:r>
            <a:r>
              <a:rPr lang="en-IN" sz="1500" b="1">
                <a:latin typeface="Arial" pitchFamily="34" charset="0"/>
                <a:cs typeface="Arial" pitchFamily="34" charset="0"/>
              </a:rPr>
              <a:t>Software-Defined Adaptive Sonar Transmitter Payload for AUVs</a:t>
            </a:r>
            <a:r>
              <a:rPr lang="en-IN" sz="1500">
                <a:latin typeface="Arial" pitchFamily="34" charset="0"/>
                <a:cs typeface="Arial" pitchFamily="34" charset="0"/>
              </a:rPr>
              <a:t> that dynamically changes </a:t>
            </a:r>
            <a:r>
              <a:rPr lang="en-IN" sz="1500" b="1">
                <a:latin typeface="Arial" pitchFamily="34" charset="0"/>
                <a:cs typeface="Arial" pitchFamily="34" charset="0"/>
              </a:rPr>
              <a:t>frequency, pulse duration, and bandwidth in real time</a:t>
            </a:r>
            <a:r>
              <a:rPr lang="en-IN" sz="1500">
                <a:latin typeface="Arial" pitchFamily="34" charset="0"/>
                <a:cs typeface="Arial" pitchFamily="34" charset="0"/>
              </a:rPr>
              <a:t> based on underwater conditions (</a:t>
            </a:r>
            <a:r>
              <a:rPr lang="en-IN" sz="1500" b="1">
                <a:latin typeface="Arial" pitchFamily="34" charset="0"/>
                <a:cs typeface="Arial" pitchFamily="34" charset="0"/>
              </a:rPr>
              <a:t>turbidity, depth, salinity</a:t>
            </a:r>
            <a:r>
              <a:rPr lang="en-IN" sz="1500">
                <a:latin typeface="Arial" pitchFamily="34" charset="0"/>
                <a:cs typeface="Arial" pitchFamily="34" charset="0"/>
              </a:rPr>
              <a:t>)—replacing fixed-frequency sonar systems that lose effectiveness in </a:t>
            </a:r>
            <a:r>
              <a:rPr lang="en-IN" sz="1500" b="1">
                <a:latin typeface="Arial" pitchFamily="34" charset="0"/>
                <a:cs typeface="Arial" pitchFamily="34" charset="0"/>
              </a:rPr>
              <a:t>murky or thermally stratified water</a:t>
            </a:r>
            <a:endParaRPr lang="en-IN" sz="15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04D2C-BDC7-5356-BE7A-AEFE95ABC23B}"/>
              </a:ext>
            </a:extLst>
          </p:cNvPr>
          <p:cNvSpPr txBox="1"/>
          <p:nvPr/>
        </p:nvSpPr>
        <p:spPr>
          <a:xfrm>
            <a:off x="3796756" y="253727"/>
            <a:ext cx="552223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l" rtl="0"/>
            <a:r>
              <a:rPr lang="en-US" sz="3200" b="1" i="0" u="sng" baseline="0" dirty="0">
                <a:solidFill>
                  <a:srgbClr val="1F497D"/>
                </a:solidFill>
                <a:latin typeface="Arial"/>
                <a:ea typeface="Arial"/>
                <a:cs typeface="Arial"/>
              </a:rPr>
              <a:t>Proposed Solution</a:t>
            </a:r>
            <a:r>
              <a:rPr lang="en-US" sz="3200" b="0" i="0" dirty="0"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marL="342900" indent="-342900">
              <a:buFont typeface="Arial,Sans-Serif"/>
              <a:buChar char="•"/>
            </a:pPr>
            <a:endParaRPr lang="en-US" b="0" i="0" dirty="0"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455F7-3DF6-4A0F-24ED-AE461B13B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8" y="2081212"/>
            <a:ext cx="90011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5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0960" y="-6096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s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64592"/>
            <a:ext cx="1645920" cy="7664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" y="1100557"/>
            <a:ext cx="8679556" cy="26776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5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The architecture is intentionally split into sensing, embedded DSP, analog conditioning and validation.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72286" y="4581968"/>
            <a:ext cx="748666" cy="144655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7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Python 3.11 DSP</a:t>
            </a:r>
          </a:p>
        </p:txBody>
      </p:sp>
      <p:pic>
        <p:nvPicPr>
          <p:cNvPr id="77" name="Picture 76" descr="sim1_b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368" y="-1471168"/>
            <a:ext cx="3429000" cy="1243584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8368" y="6572238"/>
            <a:ext cx="160948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@SIH Idea submission • Template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20387" y="6564543"/>
            <a:ext cx="10105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71180" y="196861"/>
            <a:ext cx="3394412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r>
              <a:rPr lang="en-US" sz="2000" b="1">
                <a:latin typeface="Arial" pitchFamily="34" charset="0"/>
                <a:cs typeface="Arial" pitchFamily="34" charset="0"/>
              </a:rPr>
              <a:t>TECHNICAL APPROACH</a:t>
            </a:r>
            <a:endParaRPr sz="2000" b="1">
              <a:solidFill>
                <a:srgbClr val="186FB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Oval 8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5189" y="252246"/>
            <a:ext cx="13400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Still-thinking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FF9BCB-061C-6561-2CFF-735BAA2A6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223" y="1409300"/>
            <a:ext cx="8898605" cy="49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7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5189" y="252246"/>
            <a:ext cx="13400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Still-thinking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9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0990" y="1054146"/>
            <a:ext cx="6275110" cy="4455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350" b="1">
                <a:latin typeface="Arial" pitchFamily="34" charset="0"/>
                <a:cs typeface="Arial" pitchFamily="34" charset="0"/>
              </a:rPr>
              <a:t>Potential Impact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Adaptive Performance:</a:t>
            </a:r>
            <a:r>
              <a:rPr lang="en-IN" sz="1350">
                <a:latin typeface="Arial" pitchFamily="34" charset="0"/>
                <a:cs typeface="Arial" pitchFamily="34" charset="0"/>
              </a:rPr>
              <a:t> Reliable operation across </a:t>
            </a:r>
            <a:r>
              <a:rPr lang="en-IN" sz="1350" b="1">
                <a:latin typeface="Arial" pitchFamily="34" charset="0"/>
                <a:cs typeface="Arial" pitchFamily="34" charset="0"/>
              </a:rPr>
              <a:t>clear, turbid and deeper waters</a:t>
            </a:r>
            <a:r>
              <a:rPr lang="en-IN" sz="1350">
                <a:latin typeface="Arial" pitchFamily="34" charset="0"/>
                <a:cs typeface="Arial" pitchFamily="34" charset="0"/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Longer Mission Endurance:</a:t>
            </a:r>
            <a:r>
              <a:rPr lang="en-IN" sz="1350">
                <a:latin typeface="Arial" pitchFamily="34" charset="0"/>
                <a:cs typeface="Arial" pitchFamily="34" charset="0"/>
              </a:rPr>
              <a:t> Energy-aware transmission reduces unnecessary acoustic power.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Reduced Payload Complexity:</a:t>
            </a:r>
            <a:r>
              <a:rPr lang="en-IN" sz="1350">
                <a:latin typeface="Arial" pitchFamily="34" charset="0"/>
                <a:cs typeface="Arial" pitchFamily="34" charset="0"/>
              </a:rPr>
              <a:t> One software-defined payload replaces multiple fixed acoustic profiles.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Greater Reliability:</a:t>
            </a:r>
            <a:r>
              <a:rPr lang="en-IN" sz="1350">
                <a:latin typeface="Arial" pitchFamily="34" charset="0"/>
                <a:cs typeface="Arial" pitchFamily="34" charset="0"/>
              </a:rPr>
              <a:t> Autonomous adaptation without continuous human intervention. </a:t>
            </a:r>
          </a:p>
          <a:p>
            <a:endParaRPr lang="en-IN" sz="1350" b="1">
              <a:latin typeface="Arial" pitchFamily="34" charset="0"/>
              <a:cs typeface="Arial" pitchFamily="34" charset="0"/>
            </a:endParaRPr>
          </a:p>
          <a:p>
            <a:endParaRPr lang="en-IN" sz="1350" b="1">
              <a:latin typeface="Arial" pitchFamily="34" charset="0"/>
              <a:cs typeface="Arial" pitchFamily="34" charset="0"/>
            </a:endParaRPr>
          </a:p>
          <a:p>
            <a:endParaRPr lang="en-IN" sz="1350" b="1">
              <a:latin typeface="Arial" pitchFamily="34" charset="0"/>
              <a:cs typeface="Arial" pitchFamily="34" charset="0"/>
            </a:endParaRPr>
          </a:p>
          <a:p>
            <a:endParaRPr lang="en-IN" sz="1350" b="1">
              <a:latin typeface="Arial" pitchFamily="34" charset="0"/>
              <a:cs typeface="Arial" pitchFamily="34" charset="0"/>
            </a:endParaRPr>
          </a:p>
          <a:p>
            <a:r>
              <a:rPr lang="en-IN" sz="1350" b="1">
                <a:latin typeface="Arial" pitchFamily="34" charset="0"/>
                <a:cs typeface="Arial" pitchFamily="34" charset="0"/>
              </a:rPr>
              <a:t>Target Users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Indian Navy &amp; Coast Guard:</a:t>
            </a:r>
            <a:r>
              <a:rPr lang="en-IN" sz="1350">
                <a:latin typeface="Arial" pitchFamily="34" charset="0"/>
                <a:cs typeface="Arial" pitchFamily="34" charset="0"/>
              </a:rPr>
              <a:t> Affordable adaptive sonar for </a:t>
            </a:r>
            <a:r>
              <a:rPr lang="en-IN" sz="1350" b="1">
                <a:latin typeface="Arial" pitchFamily="34" charset="0"/>
                <a:cs typeface="Arial" pitchFamily="34" charset="0"/>
              </a:rPr>
              <a:t>small patrol AUVs</a:t>
            </a:r>
            <a:r>
              <a:rPr lang="en-IN" sz="1350">
                <a:latin typeface="Arial" pitchFamily="34" charset="0"/>
                <a:cs typeface="Arial" pitchFamily="34" charset="0"/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NIOT &amp; NCPOR:</a:t>
            </a:r>
            <a:r>
              <a:rPr lang="en-IN" sz="1350">
                <a:latin typeface="Arial" pitchFamily="34" charset="0"/>
                <a:cs typeface="Arial" pitchFamily="34" charset="0"/>
              </a:rPr>
              <a:t> Low-cost bathymetric survey AUVs with research-grade resolution.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1350" b="1">
                <a:latin typeface="Arial" pitchFamily="34" charset="0"/>
                <a:cs typeface="Arial" pitchFamily="34" charset="0"/>
              </a:rPr>
              <a:t>Offshore Oil &amp; Gas:</a:t>
            </a:r>
            <a:r>
              <a:rPr lang="en-IN" sz="1350">
                <a:latin typeface="Arial" pitchFamily="34" charset="0"/>
                <a:cs typeface="Arial" pitchFamily="34" charset="0"/>
              </a:rPr>
              <a:t> Pipeline inspection AUVs adapting to </a:t>
            </a:r>
            <a:r>
              <a:rPr lang="en-IN" sz="1350" b="1">
                <a:latin typeface="Arial" pitchFamily="34" charset="0"/>
                <a:cs typeface="Arial" pitchFamily="34" charset="0"/>
              </a:rPr>
              <a:t>turbid, deep-water conditions</a:t>
            </a:r>
            <a:r>
              <a:rPr lang="en-IN" sz="1350">
                <a:latin typeface="Arial" pitchFamily="34" charset="0"/>
                <a:cs typeface="Arial" pitchFamily="34" charset="0"/>
              </a:rPr>
              <a:t>. </a:t>
            </a:r>
          </a:p>
          <a:p>
            <a:r>
              <a:rPr lang="en-IN" sz="135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63" y="1266775"/>
            <a:ext cx="5845936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5189" y="252246"/>
            <a:ext cx="13400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Still-thinking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00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8" descr="s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64592"/>
            <a:ext cx="1645920" cy="7664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37948" y="410149"/>
            <a:ext cx="7170296" cy="4678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28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Scientific basis behind the adaptive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139029"/>
            <a:ext cx="4720908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Acoustic absorption, LFM pulse compression and active filtering anchor the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481328"/>
            <a:ext cx="2880360" cy="4617720"/>
          </a:xfrm>
          <a:prstGeom prst="round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0989" y="1797397"/>
            <a:ext cx="1445973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4B7D3"/>
                </a:solidFill>
                <a:latin typeface="Arial" pitchFamily="34" charset="0"/>
                <a:cs typeface="Arial" pitchFamily="34" charset="0"/>
              </a:rPr>
              <a:t>RESEARCH → DESIGN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267712"/>
            <a:ext cx="457200" cy="457200"/>
          </a:xfrm>
          <a:prstGeom prst="ellipse">
            <a:avLst/>
          </a:prstGeom>
          <a:solidFill>
            <a:srgbClr val="14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4480" y="2293571"/>
            <a:ext cx="936218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OCEAN PHYSICS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99170"/>
            <a:ext cx="883319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C3D7E6"/>
                </a:solidFill>
                <a:latin typeface="Arial" pitchFamily="34" charset="0"/>
                <a:cs typeface="Arial" pitchFamily="34" charset="0"/>
              </a:rPr>
              <a:t>Francois–Garrison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720" y="2724912"/>
            <a:ext cx="0" cy="374904"/>
          </a:xfrm>
          <a:prstGeom prst="line">
            <a:avLst/>
          </a:prstGeom>
          <a:ln w="15240">
            <a:solidFill>
              <a:srgbClr val="6E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0120" y="3099816"/>
            <a:ext cx="457200" cy="457200"/>
          </a:xfrm>
          <a:prstGeom prst="ellipse">
            <a:avLst/>
          </a:prstGeom>
          <a:solidFill>
            <a:srgbClr val="3FA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54480" y="3125675"/>
            <a:ext cx="1405898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SIMPLIFIED ABSORPTION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431274"/>
            <a:ext cx="772712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C3D7E6"/>
                </a:solidFill>
                <a:latin typeface="Arial" pitchFamily="34" charset="0"/>
                <a:cs typeface="Arial" pitchFamily="34" charset="0"/>
              </a:rPr>
              <a:t>Ainslie–McColm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88720" y="3557016"/>
            <a:ext cx="0" cy="374904"/>
          </a:xfrm>
          <a:prstGeom prst="line">
            <a:avLst/>
          </a:prstGeom>
          <a:ln w="15240">
            <a:solidFill>
              <a:srgbClr val="6E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60120" y="3931920"/>
            <a:ext cx="457200" cy="457200"/>
          </a:xfrm>
          <a:prstGeom prst="ellipse">
            <a:avLst/>
          </a:prstGeom>
          <a:solidFill>
            <a:srgbClr val="F4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4480" y="3957779"/>
            <a:ext cx="1562992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LFM / PULSE COMPRESSION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63378"/>
            <a:ext cx="742254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C3D7E6"/>
                </a:solidFill>
                <a:latin typeface="Arial" pitchFamily="34" charset="0"/>
                <a:cs typeface="Arial" pitchFamily="34" charset="0"/>
              </a:rPr>
              <a:t>Sonar literature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4389120"/>
            <a:ext cx="0" cy="374904"/>
          </a:xfrm>
          <a:prstGeom prst="line">
            <a:avLst/>
          </a:prstGeom>
          <a:ln w="15240">
            <a:solidFill>
              <a:srgbClr val="6E9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0120" y="4764024"/>
            <a:ext cx="457200" cy="457200"/>
          </a:xfrm>
          <a:prstGeom prst="ellipse">
            <a:avLst/>
          </a:prstGeom>
          <a:solidFill>
            <a:srgbClr val="18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54480" y="4789883"/>
            <a:ext cx="1043619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ACTIVE FILTERING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95482"/>
            <a:ext cx="559512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C3D7E6"/>
                </a:solidFill>
                <a:latin typeface="Arial" pitchFamily="34" charset="0"/>
                <a:cs typeface="Arial" pitchFamily="34" charset="0"/>
              </a:rPr>
              <a:t>Sallen–Key</a:t>
            </a:r>
          </a:p>
        </p:txBody>
      </p:sp>
      <p:pic>
        <p:nvPicPr>
          <p:cNvPr id="30" name="Picture 29" descr="exp02_frequ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03520"/>
            <a:ext cx="2359152" cy="576072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3931920" y="1554480"/>
            <a:ext cx="502920" cy="502920"/>
          </a:xfrm>
          <a:prstGeom prst="ellipse">
            <a:avLst/>
          </a:prstGeom>
          <a:solidFill>
            <a:srgbClr val="14B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100793" y="1667931"/>
            <a:ext cx="16517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1573369"/>
            <a:ext cx="1668790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Francois &amp; Garrison (1982)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1891234"/>
            <a:ext cx="2930354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142237"/>
                </a:solidFill>
                <a:latin typeface="Arial" pitchFamily="34" charset="0"/>
                <a:cs typeface="Arial" pitchFamily="34" charset="0"/>
              </a:rPr>
              <a:t>Sound absorption based on ocean measurements — JASA.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2169402"/>
            <a:ext cx="1894814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Basis for seawater absorption modelling.</a:t>
            </a:r>
          </a:p>
        </p:txBody>
      </p:sp>
      <p:sp>
        <p:nvSpPr>
          <p:cNvPr id="36" name="Oval 35"/>
          <p:cNvSpPr/>
          <p:nvPr/>
        </p:nvSpPr>
        <p:spPr>
          <a:xfrm>
            <a:off x="3931920" y="2615184"/>
            <a:ext cx="502920" cy="502920"/>
          </a:xfrm>
          <a:prstGeom prst="ellipse">
            <a:avLst/>
          </a:prstGeom>
          <a:solidFill>
            <a:srgbClr val="3FA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100793" y="2728634"/>
            <a:ext cx="16517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634073"/>
            <a:ext cx="1521314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Ainslie &amp; McColm (1998)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2" y="2951939"/>
            <a:ext cx="3852080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142237"/>
                </a:solidFill>
                <a:latin typeface="Arial" pitchFamily="34" charset="0"/>
                <a:cs typeface="Arial" pitchFamily="34" charset="0"/>
              </a:rPr>
              <a:t>A simplified formula for viscous and chemical absorption in sea water — JASA.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52" y="3106996"/>
            <a:ext cx="5344476" cy="406265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r>
              <a:rPr sz="8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Frequency-dependent absorption </a:t>
            </a:r>
            <a:r>
              <a:rPr sz="800" b="0" err="1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modelling</a:t>
            </a:r>
            <a:r>
              <a:rPr sz="8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IN" sz="800" b="1">
                <a:latin typeface="Arial" pitchFamily="34" charset="0"/>
                <a:cs typeface="Arial" pitchFamily="34" charset="0"/>
              </a:rPr>
              <a:t> 	</a:t>
            </a:r>
          </a:p>
          <a:p>
            <a:r>
              <a:rPr lang="en-IN" sz="800" b="1">
                <a:latin typeface="Arial" pitchFamily="34" charset="0"/>
                <a:cs typeface="Arial" pitchFamily="34" charset="0"/>
              </a:rPr>
              <a:t>Link:</a:t>
            </a:r>
            <a:r>
              <a:rPr lang="en-IN" sz="800">
                <a:latin typeface="Arial" pitchFamily="34" charset="0"/>
                <a:cs typeface="Arial" pitchFamily="34" charset="0"/>
              </a:rPr>
              <a:t> </a:t>
            </a:r>
            <a:r>
              <a:rPr lang="en-IN" sz="800">
                <a:latin typeface="Arial" pitchFamily="34" charset="0"/>
                <a:cs typeface="Arial" pitchFamily="34" charset="0"/>
                <a:hlinkClick r:id="rId4"/>
              </a:rPr>
              <a:t>https://pubs.aip.org/asa/jasa/article-abstract/103/3/1671/557895/A-simplified-formula-for-viscous-and-chemical</a:t>
            </a:r>
            <a:endParaRPr lang="en-IN" sz="800">
              <a:latin typeface="Arial" pitchFamily="34" charset="0"/>
              <a:cs typeface="Arial" pitchFamily="34" charset="0"/>
            </a:endParaRPr>
          </a:p>
          <a:p>
            <a:pPr algn="l"/>
            <a:endParaRPr sz="800" b="0">
              <a:solidFill>
                <a:srgbClr val="5B6979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931920" y="3675887"/>
            <a:ext cx="502920" cy="502920"/>
          </a:xfrm>
          <a:prstGeom prst="ellipse">
            <a:avLst/>
          </a:prstGeom>
          <a:solidFill>
            <a:srgbClr val="F48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00793" y="3789339"/>
            <a:ext cx="16517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3694777"/>
            <a:ext cx="1599862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LFM / Pulse Compression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4012642"/>
            <a:ext cx="3438505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142237"/>
                </a:solidFill>
                <a:latin typeface="Arial" pitchFamily="34" charset="0"/>
                <a:cs typeface="Arial" pitchFamily="34" charset="0"/>
              </a:rPr>
              <a:t>Underwater sonar literature on LFM chirps, SNR and range resolution.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4286437"/>
            <a:ext cx="1607876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Waveform + matched-filter design.</a:t>
            </a:r>
          </a:p>
        </p:txBody>
      </p:sp>
      <p:sp>
        <p:nvSpPr>
          <p:cNvPr id="46" name="Oval 45"/>
          <p:cNvSpPr/>
          <p:nvPr/>
        </p:nvSpPr>
        <p:spPr>
          <a:xfrm>
            <a:off x="3931920" y="4736592"/>
            <a:ext cx="502920" cy="502920"/>
          </a:xfrm>
          <a:prstGeom prst="ellipse">
            <a:avLst/>
          </a:prstGeom>
          <a:solidFill>
            <a:srgbClr val="18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00793" y="4850043"/>
            <a:ext cx="16517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45152" y="4755480"/>
            <a:ext cx="1213537" cy="19082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1000" b="1" err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Sallen</a:t>
            </a:r>
            <a:r>
              <a:rPr sz="1000" b="1">
                <a:solidFill>
                  <a:srgbClr val="081830"/>
                </a:solidFill>
                <a:latin typeface="Arial" pitchFamily="34" charset="0"/>
                <a:cs typeface="Arial" pitchFamily="34" charset="0"/>
              </a:rPr>
              <a:t> &amp; Key (1955)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2" y="5073346"/>
            <a:ext cx="2465483" cy="16773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50" b="0">
                <a:solidFill>
                  <a:srgbClr val="142237"/>
                </a:solidFill>
                <a:latin typeface="Arial" pitchFamily="34" charset="0"/>
                <a:cs typeface="Arial" pitchFamily="34" charset="0"/>
              </a:rPr>
              <a:t>A Practical Method of Designing RC Active Filters.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5152" y="5351514"/>
            <a:ext cx="1579022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Active reconstruction filter design.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5889560"/>
            <a:ext cx="2242665" cy="144655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700" b="0">
                <a:solidFill>
                  <a:srgbClr val="5B6979"/>
                </a:solidFill>
                <a:latin typeface="Arial" pitchFamily="34" charset="0"/>
                <a:cs typeface="Arial" pitchFamily="34" charset="0"/>
              </a:rPr>
              <a:t>Sources: AIP / JASA • SXJS sonar paper • IEEE Xplore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8368" y="6572238"/>
            <a:ext cx="1609480" cy="1600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/>
            <a:r>
              <a:rPr sz="800" b="0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@SIH Idea submission • Template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20387" y="6564543"/>
            <a:ext cx="101053" cy="17543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r"/>
            <a:r>
              <a:rPr sz="900" b="1">
                <a:solidFill>
                  <a:srgbClr val="FCFDFF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92934" y="2334083"/>
            <a:ext cx="6141168" cy="141577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r>
              <a:rPr lang="en-IN" sz="800" b="1">
                <a:latin typeface="Arial" pitchFamily="34" charset="0"/>
                <a:cs typeface="Arial" pitchFamily="34" charset="0"/>
              </a:rPr>
              <a:t>	Link:</a:t>
            </a:r>
            <a:r>
              <a:rPr lang="en-IN" sz="800">
                <a:latin typeface="Arial" pitchFamily="34" charset="0"/>
                <a:cs typeface="Arial" pitchFamily="34" charset="0"/>
              </a:rPr>
              <a:t> </a:t>
            </a:r>
            <a:r>
              <a:rPr lang="en-IN" sz="800">
                <a:latin typeface="Arial" pitchFamily="34" charset="0"/>
                <a:cs typeface="Arial" pitchFamily="34" charset="0"/>
                <a:hlinkClick r:id="rId5"/>
              </a:rPr>
              <a:t>https://pubs.aip.org/asa/jasa/article-abstract/72/3/896/774694/Sound-absorption-based-on-ocean-measurements-Part</a:t>
            </a:r>
            <a:endParaRPr sz="670" b="0">
              <a:solidFill>
                <a:srgbClr val="186FBE"/>
              </a:solidFill>
              <a:latin typeface="Arial" pitchFamily="34" charset="0"/>
              <a:cs typeface="Arial" pitchFamily="34" charset="0"/>
              <a:hlinkClick r:id="rId5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645152" y="5529710"/>
            <a:ext cx="2415790" cy="141577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r>
              <a:rPr lang="en-IN" sz="800" b="1">
                <a:latin typeface="Arial" pitchFamily="34" charset="0"/>
                <a:cs typeface="Arial" pitchFamily="34" charset="0"/>
              </a:rPr>
              <a:t>Link:</a:t>
            </a:r>
            <a:r>
              <a:rPr lang="en-IN" sz="800">
                <a:latin typeface="Arial" pitchFamily="34" charset="0"/>
                <a:cs typeface="Arial" pitchFamily="34" charset="0"/>
              </a:rPr>
              <a:t> </a:t>
            </a:r>
            <a:r>
              <a:rPr lang="en-IN" sz="800">
                <a:latin typeface="Arial" pitchFamily="34" charset="0"/>
                <a:cs typeface="Arial" pitchFamily="34" charset="0"/>
                <a:hlinkClick r:id="rId6"/>
              </a:rPr>
              <a:t>https://ieeexplore.ieee.org/document/6500159</a:t>
            </a:r>
            <a:endParaRPr sz="670" b="0">
              <a:solidFill>
                <a:srgbClr val="186FBE"/>
              </a:solidFill>
              <a:latin typeface="Arial" pitchFamily="34" charset="0"/>
              <a:cs typeface="Arial" pitchFamily="34" charset="0"/>
              <a:hlinkClick r:id="rId6"/>
            </a:endParaRPr>
          </a:p>
        </p:txBody>
      </p:sp>
      <p:pic>
        <p:nvPicPr>
          <p:cNvPr id="56" name="Picture 55" descr="Screenshot 2026-09-02 1034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252" y="1531421"/>
            <a:ext cx="3830199" cy="5420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2934" y="4387927"/>
            <a:ext cx="6096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000" b="1">
                <a:latin typeface="Arial" pitchFamily="34" charset="0"/>
                <a:cs typeface="Arial" pitchFamily="34" charset="0"/>
              </a:rPr>
              <a:t>	Link:</a:t>
            </a:r>
            <a:r>
              <a:rPr lang="en-IN" sz="1000">
                <a:latin typeface="Arial" pitchFamily="34" charset="0"/>
                <a:cs typeface="Arial" pitchFamily="34" charset="0"/>
              </a:rPr>
              <a:t> </a:t>
            </a:r>
            <a:r>
              <a:rPr lang="en-IN" sz="1000">
                <a:latin typeface="Arial" pitchFamily="34" charset="0"/>
                <a:cs typeface="Arial" pitchFamily="34" charset="0"/>
                <a:hlinkClick r:id="rId8"/>
              </a:rPr>
              <a:t>https://www.sxjs.ac.cn/en/article/doi/10.3969/j.issn1000-3630.2014.03.018</a:t>
            </a:r>
            <a:endParaRPr lang="en-IN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Oval 57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5189" y="6482"/>
            <a:ext cx="134000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Still-thinking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9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PowerPoint Presentation</vt:lpstr>
      <vt:lpstr>PowerPoint Presentation</vt:lpstr>
      <vt:lpstr>PowerPoint Presentation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sirigiri Sonalika</cp:lastModifiedBy>
  <cp:revision>73</cp:revision>
  <dcterms:created xsi:type="dcterms:W3CDTF">2013-12-12T18:46:50Z</dcterms:created>
  <dcterms:modified xsi:type="dcterms:W3CDTF">2026-09-15T07:56:42Z</dcterms:modified>
  <cp:category/>
</cp:coreProperties>
</file>