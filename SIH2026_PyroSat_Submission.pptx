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914400"/>
          </a:xfrm>
        </p:spPr>
        <p:txBody>
          <a:bodyPr/>
          <a:lstStyle/>
          <a:p>
            <a:pPr eaLnBrk="1" hangingPunct="1" algn="ctr">
              <a:defRPr sz="1650" b="1">
                <a:solidFill>
                  <a:srgbClr val="000000"/>
                </a:solidFill>
                <a:latin typeface="Times New Roman"/>
              </a:defRPr>
            </a:pPr>
            <a:r>
              <a:t>PyroSat: AI-Powered Satellite Thermal Anomaly &amp; Sub-Pixel Inversion</a:t>
            </a:r>
            <a:br/>
            <a:r>
              <a:t>Platform for Industrial Fire and Disaster Mitigation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ectangle 15361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3" name="Rectangle 15362"/>
          <p:cNvSpPr/>
          <p:nvPr/>
        </p:nvSpPr>
        <p:spPr>
          <a:xfrm>
            <a:off x="256032" y="2450592"/>
            <a:ext cx="11658600" cy="13716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4" name="Rectangle 15363"/>
          <p:cNvSpPr/>
          <p:nvPr/>
        </p:nvSpPr>
        <p:spPr>
          <a:xfrm>
            <a:off x="5440680" y="1115568"/>
            <a:ext cx="13716" cy="1298448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5" name="TextBox 15364"/>
          <p:cNvSpPr txBox="1"/>
          <p:nvPr/>
        </p:nvSpPr>
        <p:spPr>
          <a:xfrm>
            <a:off x="347472" y="1143000"/>
            <a:ext cx="493776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Problem: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232323"/>
                </a:solidFill>
                <a:latin typeface="Arial"/>
              </a:rPr>
              <a:t>NASA FIRMS satellites detect heat, but </a:t>
            </a:r>
            <a:r>
              <a:rPr sz="1000" b="1">
                <a:solidFill>
                  <a:srgbClr val="000000"/>
                </a:solidFill>
                <a:latin typeface="Arial"/>
              </a:rPr>
              <a:t>cannot tell what is burning.</a:t>
            </a:r>
            <a:r>
              <a:rPr sz="1000">
                <a:solidFill>
                  <a:srgbClr val="232323"/>
                </a:solidFill>
                <a:latin typeface="Arial"/>
              </a:rPr>
              <a:t> Coarse 375m pixels mix routine refinery flares with runaway chemical explosions and wildfires. In industrial corridors, this causes </a:t>
            </a:r>
            <a:r>
              <a:rPr sz="1000" b="1">
                <a:solidFill>
                  <a:srgbClr val="000000"/>
                </a:solidFill>
                <a:latin typeface="Arial"/>
              </a:rPr>
              <a:t>heavy false alarms, putting critical infrastructure and lives at risk.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5623560" y="1143000"/>
            <a:ext cx="621792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Our Idea :</a:t>
            </a:r>
          </a:p>
          <a:p>
            <a:pPr>
              <a:lnSpc>
                <a:spcPct val="115000"/>
              </a:lnSpc>
            </a:pPr>
            <a:r>
              <a:rPr sz="1000" b="1">
                <a:solidFill>
                  <a:srgbClr val="000000"/>
                </a:solidFill>
                <a:latin typeface="Arial"/>
              </a:rPr>
              <a:t>PyroSat is an AI-powered platform with a three-pillar approach </a:t>
            </a:r>
            <a:r>
              <a:rPr sz="1000">
                <a:solidFill>
                  <a:srgbClr val="232323"/>
                </a:solidFill>
                <a:latin typeface="Arial"/>
              </a:rPr>
              <a:t>ensuring automated disaster intelligence when orbital feeds are ambiguous. It combines </a:t>
            </a:r>
            <a:r>
              <a:rPr sz="1000" b="1">
                <a:solidFill>
                  <a:srgbClr val="000000"/>
                </a:solidFill>
                <a:latin typeface="Arial"/>
              </a:rPr>
              <a:t>infrared flame physics, hierarchical ML, and 3D GIS maps </a:t>
            </a:r>
            <a:r>
              <a:rPr sz="1000">
                <a:solidFill>
                  <a:srgbClr val="232323"/>
                </a:solidFill>
                <a:latin typeface="Arial"/>
              </a:rPr>
              <a:t>to deliver instant emergency alerts and toxic plume evacuation modeling.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347472" y="2542032"/>
            <a:ext cx="38404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Proposed Solution :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950">
                <a:solidFill>
                  <a:srgbClr val="232323"/>
                </a:solidFill>
                <a:latin typeface="Arial"/>
              </a:rPr>
              <a:t>• When satellite telemetry arrives, the system applies </a:t>
            </a:r>
            <a:r>
              <a:rPr sz="950" b="1">
                <a:solidFill>
                  <a:srgbClr val="000000"/>
                </a:solidFill>
                <a:latin typeface="Arial"/>
              </a:rPr>
              <a:t>Dual-Band Planck Pyrometry</a:t>
            </a:r>
            <a:r>
              <a:rPr sz="950">
                <a:solidFill>
                  <a:srgbClr val="232323"/>
                </a:solidFill>
                <a:latin typeface="Arial"/>
              </a:rPr>
              <a:t> to calculate true flame temperature (Tf &gt; 1200 K) and exact fire area from sub-pixel clutter.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950">
                <a:solidFill>
                  <a:srgbClr val="232323"/>
                </a:solidFill>
                <a:latin typeface="Arial"/>
              </a:rPr>
              <a:t>• A </a:t>
            </a:r>
            <a:r>
              <a:rPr sz="950" b="1">
                <a:solidFill>
                  <a:srgbClr val="000000"/>
                </a:solidFill>
                <a:latin typeface="Arial"/>
              </a:rPr>
              <a:t>2-Stage Hierarchical ML Classifier</a:t>
            </a:r>
            <a:r>
              <a:rPr sz="950">
                <a:solidFill>
                  <a:srgbClr val="232323"/>
                </a:solidFill>
                <a:latin typeface="Arial"/>
              </a:rPr>
              <a:t> automatically segregates routine refinery flares from industrial explosions and forest wildfires.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950">
                <a:solidFill>
                  <a:srgbClr val="232323"/>
                </a:solidFill>
                <a:latin typeface="Arial"/>
              </a:rPr>
              <a:t>• An integrated </a:t>
            </a:r>
            <a:r>
              <a:rPr sz="950" b="1">
                <a:solidFill>
                  <a:srgbClr val="000000"/>
                </a:solidFill>
                <a:latin typeface="Arial"/>
              </a:rPr>
              <a:t>3D GIS WebGL Command Dashboard</a:t>
            </a:r>
            <a:r>
              <a:rPr sz="950">
                <a:solidFill>
                  <a:srgbClr val="232323"/>
                </a:solidFill>
                <a:latin typeface="Arial"/>
              </a:rPr>
              <a:t> drapes thermal hotspots and real-time Gaussian toxic plume evacuation zones onto a live virtual globe.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8001000" y="2542032"/>
            <a:ext cx="38404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Innovation/Uniqueness: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950">
                <a:solidFill>
                  <a:srgbClr val="232323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India's first sub-pixel pyrometry platform</a:t>
            </a:r>
            <a:r>
              <a:rPr sz="950">
                <a:solidFill>
                  <a:srgbClr val="232323"/>
                </a:solidFill>
                <a:latin typeface="Arial"/>
              </a:rPr>
              <a:t> to detect industrial fires.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950">
                <a:solidFill>
                  <a:srgbClr val="232323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Converts raw heat pixels into physical flame data</a:t>
            </a:r>
            <a:r>
              <a:rPr sz="950">
                <a:solidFill>
                  <a:srgbClr val="232323"/>
                </a:solidFill>
                <a:latin typeface="Arial"/>
              </a:rPr>
              <a:t> (temperature &amp; burning area) with zero AI hallucination.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950">
                <a:solidFill>
                  <a:srgbClr val="232323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Dual-satellite land grounding</a:t>
            </a:r>
            <a:r>
              <a:rPr sz="950">
                <a:solidFill>
                  <a:srgbClr val="232323"/>
                </a:solidFill>
                <a:latin typeface="Arial"/>
              </a:rPr>
              <a:t> uses 10m ESA land-cover and Sentinel-2 data to eliminate false alarms at industrial plants.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950">
                <a:solidFill>
                  <a:srgbClr val="232323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Live Toxic Plume Dispersion Engine</a:t>
            </a:r>
            <a:r>
              <a:rPr sz="950">
                <a:solidFill>
                  <a:srgbClr val="232323"/>
                </a:solidFill>
                <a:latin typeface="Arial"/>
              </a:rPr>
              <a:t> combines real-time wind and chemical data to map evacuation zones for first responders.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914400"/>
          </a:xfrm>
        </p:spPr>
        <p:txBody>
          <a:bodyPr/>
          <a:lstStyle/>
          <a:p>
            <a:pPr eaLnBrk="1" hangingPunct="1"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0" rIns="0"/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3291840" y="1115568"/>
            <a:ext cx="13716" cy="4983480"/>
          </a:xfrm>
          <a:prstGeom prst="rect">
            <a:avLst/>
          </a:prstGeom>
          <a:solidFill>
            <a:srgbClr val="BEC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3291840" y="4160520"/>
            <a:ext cx="8622792" cy="13716"/>
          </a:xfrm>
          <a:prstGeom prst="rect">
            <a:avLst/>
          </a:prstGeom>
          <a:solidFill>
            <a:srgbClr val="BEC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320040" y="1133856"/>
            <a:ext cx="292608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000000"/>
                </a:solidFill>
                <a:latin typeface="Arial"/>
              </a:defRPr>
            </a:pPr>
            <a:r>
              <a:t>Hardware &amp; Software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NASA FIRMS Telemetry:</a:t>
            </a:r>
            <a:r>
              <a:rPr sz="850">
                <a:solidFill>
                  <a:srgbClr val="232323"/>
                </a:solidFill>
                <a:latin typeface="Arial"/>
              </a:rPr>
              <a:t> VIIRS (375m) &amp; MODIS (1km) dual-band NRT infrared radiance.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Sentinel-2 &amp; ESA LULC:</a:t>
            </a:r>
            <a:r>
              <a:rPr sz="850">
                <a:solidFill>
                  <a:srgbClr val="232323"/>
                </a:solidFill>
                <a:latin typeface="Arial"/>
              </a:rPr>
              <a:t> 10m land-cover &amp; Level-2A surface reflectance (NDVI/SWIR).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SciPy (Planck Pyrometry):</a:t>
            </a:r>
            <a:r>
              <a:rPr sz="850">
                <a:solidFill>
                  <a:srgbClr val="232323"/>
                </a:solidFill>
                <a:latin typeface="Arial"/>
              </a:rPr>
              <a:t> Dual-band Dozier inversion solving flame temp &amp; area.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LightGBM &amp; TreeSHAP:</a:t>
            </a:r>
            <a:r>
              <a:rPr sz="850">
                <a:solidFill>
                  <a:srgbClr val="232323"/>
                </a:solidFill>
                <a:latin typeface="Arial"/>
              </a:rPr>
              <a:t> 2-stage hierarchical ML classifier with exact local Shapley XAI.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CesiumJS (WebGL 3D):</a:t>
            </a:r>
            <a:r>
              <a:rPr sz="850">
                <a:solidFill>
                  <a:srgbClr val="232323"/>
                </a:solidFill>
                <a:latin typeface="Arial"/>
              </a:rPr>
              <a:t> Virtual 3D globe rendering terrain, 3D tiles &amp; hazard layers.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Open-Meteo &amp; Plume Model:</a:t>
            </a:r>
            <a:r>
              <a:rPr sz="850">
                <a:solidFill>
                  <a:srgbClr val="232323"/>
                </a:solidFill>
                <a:latin typeface="Arial"/>
              </a:rPr>
              <a:t> Pasquill-Gifford dispersion with live wind vectors.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FastAPI &amp; Node.js Gateway:</a:t>
            </a:r>
            <a:r>
              <a:rPr sz="850">
                <a:solidFill>
                  <a:srgbClr val="232323"/>
                </a:solidFill>
                <a:latin typeface="Arial"/>
              </a:rPr>
              <a:t> Sub-second REST inference API &amp; SSE real-time alerting.</a:t>
            </a:r>
          </a:p>
          <a:p>
            <a:pPr>
              <a:lnSpc>
                <a:spcPct val="112000"/>
              </a:lnSpc>
              <a:spcAft>
                <a:spcPts val="550"/>
              </a:spcAft>
            </a:pPr>
            <a:r>
              <a:rPr sz="850">
                <a:solidFill>
                  <a:srgbClr val="232323"/>
                </a:solidFill>
                <a:latin typeface="Arial"/>
              </a:rPr>
              <a:t>• </a:t>
            </a:r>
            <a:r>
              <a:rPr sz="850" b="1">
                <a:solidFill>
                  <a:srgbClr val="000000"/>
                </a:solidFill>
                <a:latin typeface="Arial"/>
              </a:rPr>
              <a:t>PostGIS Spatial Database:</a:t>
            </a:r>
            <a:r>
              <a:rPr sz="850">
                <a:solidFill>
                  <a:srgbClr val="232323"/>
                </a:solidFill>
                <a:latin typeface="Arial"/>
              </a:rPr>
              <a:t> Industrial infrastructure &amp; boundary threat engine.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474720" y="113385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 u="sng">
                <a:solidFill>
                  <a:srgbClr val="2B5B84"/>
                </a:solidFill>
                <a:latin typeface="Arial"/>
              </a:defRPr>
            </a:pPr>
            <a:r>
              <a:t>FLOW CHART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474720" y="1463040"/>
            <a:ext cx="8321040" cy="256032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B4C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4748B"/>
                </a:solidFill>
                <a:latin typeface="Arial"/>
              </a:defRPr>
            </a:pPr>
            <a:br/>
            <a:r>
              <a:t>[ INSERT SYSTEM ARCHITECTURE / INGESTION-TO-DISPATCH FLOWCHART IMAGE HERE ]</a:t>
            </a:r>
          </a:p>
          <a:p>
            <a:pPr algn="ctr">
              <a:defRPr sz="950">
                <a:solidFill>
                  <a:srgbClr val="94A3B8"/>
                </a:solidFill>
                <a:latin typeface="Arial"/>
              </a:defRPr>
            </a:pPr>
            <a:r>
              <a:t>(NASA FIRMS ➔ Dozier Planck Inversion ➔ 2-Stage ML Classifier ➔ TreeSHAP ➔ Gaussian Plume ➔ IAP Dispatch)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3474720" y="4224528"/>
            <a:ext cx="320040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00" b="1" u="sng">
                <a:solidFill>
                  <a:srgbClr val="2B5B84"/>
                </a:solidFill>
                <a:latin typeface="Arial"/>
              </a:defRPr>
            </a:pPr>
            <a:r>
              <a:t>3 LAYER APPROACH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474720" y="4526280"/>
            <a:ext cx="3566160" cy="1554480"/>
          </a:xfrm>
          <a:prstGeom prst="roundRect">
            <a:avLst/>
          </a:prstGeom>
          <a:solidFill>
            <a:srgbClr val="F5F8FC"/>
          </a:solidFill>
          <a:ln w="19050">
            <a:solidFill>
              <a:srgbClr val="B4C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64748B"/>
                </a:solidFill>
                <a:latin typeface="Arial"/>
              </a:defRPr>
            </a:pPr>
            <a:br/>
            <a:r>
              <a:t>[ INSERT 3-LAYER ARCHITECTURE MOCKUP ]</a:t>
            </a:r>
          </a:p>
          <a:p>
            <a:pPr algn="ctr">
              <a:defRPr sz="850">
                <a:solidFill>
                  <a:srgbClr val="94A3B8"/>
                </a:solidFill>
                <a:latin typeface="Arial"/>
              </a:defRPr>
            </a:pPr>
            <a:r>
              <a:t>L1: Sensing ➔ L2: Physics/ML ➔ L3: Dispatch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7223760" y="4343400"/>
            <a:ext cx="4572000" cy="1737360"/>
          </a:xfrm>
          <a:prstGeom prst="rect">
            <a:avLst/>
          </a:prstGeom>
          <a:solidFill>
            <a:srgbClr val="E1EEFA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GitHub link: </a:t>
            </a:r>
            <a:r>
              <a:rPr sz="1050" u="sng">
                <a:solidFill>
                  <a:srgbClr val="1D4ED8"/>
                </a:solidFill>
                <a:latin typeface="Arial"/>
              </a:rPr>
              <a:t>https://github.com/Narayana1729/SIH2026.git</a:t>
            </a:r>
          </a:p>
          <a:p>
            <a:pPr>
              <a:spcAft>
                <a:spcPts val="100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Live Dashboard: </a:t>
            </a:r>
            <a:r>
              <a:rPr sz="1000">
                <a:solidFill>
                  <a:srgbClr val="2B5B84"/>
                </a:solidFill>
                <a:latin typeface="Arial"/>
              </a:rPr>
              <a:t>http://localhost:8080 (Cesium 3D WebGL HUD)</a:t>
            </a:r>
          </a:p>
          <a:p>
            <a:r>
              <a:rPr sz="1250" b="1">
                <a:solidFill>
                  <a:srgbClr val="DC2626"/>
                </a:solidFill>
                <a:latin typeface="Arial"/>
              </a:rPr>
              <a:t>Above 80% of the prototype is completed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914400"/>
          </a:xfrm>
        </p:spPr>
        <p:txBody>
          <a:bodyPr/>
          <a:lstStyle/>
          <a:p>
            <a:pPr eaLnBrk="1" hangingPunct="1"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5440680" y="1115568"/>
            <a:ext cx="13716" cy="4983480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256032" y="3566160"/>
            <a:ext cx="5184648" cy="13716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347472" y="1133856"/>
            <a:ext cx="4983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Feasibility Analysis: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Open-Data Architecture: </a:t>
            </a:r>
            <a:r>
              <a:rPr sz="950">
                <a:solidFill>
                  <a:srgbClr val="1E1E1E"/>
                </a:solidFill>
                <a:latin typeface="Arial"/>
              </a:rPr>
              <a:t>Zero dependence on costly commercial tasking; runs entirely on free, open NASA FIRMS, ESA Copernicus, and Open-Meteo feeds.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Tested Operational Prototype: </a:t>
            </a:r>
            <a:r>
              <a:rPr sz="950">
                <a:solidFill>
                  <a:srgbClr val="1E1E1E"/>
                </a:solidFill>
                <a:latin typeface="Arial"/>
              </a:rPr>
              <a:t>Full-stack system already implemented with 130 passing automated tests covering pyrometry, ML inference, and 3D UI rendering.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Low Hardware Footprint: </a:t>
            </a:r>
            <a:r>
              <a:rPr sz="950">
                <a:solidFill>
                  <a:srgbClr val="1E1E1E"/>
                </a:solidFill>
                <a:latin typeface="Arial"/>
              </a:rPr>
              <a:t>Efficient TreeSHAP DP and Dozier solvers run in sub-second inference on standard edge or cloud servers.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47472" y="3657600"/>
            <a:ext cx="498348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Potential Challenges &amp; Risks: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Cloud &amp; Monsoon Obscuration: </a:t>
            </a:r>
            <a:r>
              <a:rPr sz="950">
                <a:solidFill>
                  <a:srgbClr val="1E1E1E"/>
                </a:solidFill>
                <a:latin typeface="Arial"/>
              </a:rPr>
              <a:t>Dense cloud cover attenuates thermal infrared emissions from orbit.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Orbital Revisit Latencies: </a:t>
            </a:r>
            <a:r>
              <a:rPr sz="950">
                <a:solidFill>
                  <a:srgbClr val="1E1E1E"/>
                </a:solidFill>
                <a:latin typeface="Arial"/>
              </a:rPr>
              <a:t>Sun-synchronous satellite passes leave gaps of 3-6 hours between revisits.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Reflective Solar Glint: </a:t>
            </a:r>
            <a:r>
              <a:rPr sz="950">
                <a:solidFill>
                  <a:srgbClr val="1E1E1E"/>
                </a:solidFill>
                <a:latin typeface="Arial"/>
              </a:rPr>
              <a:t>Highly reflective metal industrial roofs can mimic daytime thermal hotspots.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623560" y="1133856"/>
            <a:ext cx="6217920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Strategies for Overcoming Challenges: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Multi-Constellation Satellite Fusion: </a:t>
            </a:r>
            <a:r>
              <a:rPr sz="950">
                <a:solidFill>
                  <a:srgbClr val="1E1E1E"/>
                </a:solidFill>
                <a:latin typeface="Arial"/>
              </a:rPr>
              <a:t>Combines VIIRS NOAA-20, NOAA-21, Suomi-NPP, and MODIS Aqua/Terra across complementary orbital nodes, reducing revisit latency.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Sentinel-2 Scene Classification (SCL): </a:t>
            </a:r>
            <a:r>
              <a:rPr sz="950">
                <a:solidFill>
                  <a:srgbClr val="1E1E1E"/>
                </a:solidFill>
                <a:latin typeface="Arial"/>
              </a:rPr>
              <a:t>Integrates cloud probability and cirrus masks to quarantine obstructed pixels without generating false-negative alerts.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90-Day Spatio-Temporal Persistence Memory: </a:t>
            </a:r>
            <a:r>
              <a:rPr sz="950">
                <a:solidFill>
                  <a:srgbClr val="1E1E1E"/>
                </a:solidFill>
                <a:latin typeface="Arial"/>
              </a:rPr>
              <a:t>Maintains historical heat baselines at known facilities, filtering out static solar glint while instantly flagging genuine flaring surges.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Multi-Band Invariant Ratio Verification: </a:t>
            </a:r>
            <a:r>
              <a:rPr sz="950">
                <a:solidFill>
                  <a:srgbClr val="1E1E1E"/>
                </a:solidFill>
                <a:latin typeface="Arial"/>
              </a:rPr>
              <a:t>Uses MWIR/LWIR radiance ratios and night-pass observations to reject non-combustion thermal reflections.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914400"/>
          </a:xfrm>
        </p:spPr>
        <p:txBody>
          <a:bodyPr/>
          <a:lstStyle/>
          <a:p>
            <a:pPr eaLnBrk="1" hangingPunct="1"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5440680" y="1115568"/>
            <a:ext cx="13716" cy="4983480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256032" y="3566160"/>
            <a:ext cx="5184648" cy="13716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347472" y="1133856"/>
            <a:ext cx="4983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Target Audience &amp; Stakeholders: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Disaster Management Authorities: </a:t>
            </a:r>
            <a:r>
              <a:rPr sz="950">
                <a:solidFill>
                  <a:srgbClr val="1E1E1E"/>
                </a:solidFill>
                <a:latin typeface="Arial"/>
              </a:rPr>
              <a:t>National &amp; State Disaster Authorities (NDMA, SDMA, NDRF battalions).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Environmental &amp; Safety Regulators: </a:t>
            </a:r>
            <a:r>
              <a:rPr sz="950">
                <a:solidFill>
                  <a:srgbClr val="1E1E1E"/>
                </a:solidFill>
                <a:latin typeface="Arial"/>
              </a:rPr>
              <a:t>Central &amp; State Pollution Control Boards (CPCB, SPCB, PESO).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Industrial Facility Operators: </a:t>
            </a:r>
            <a:r>
              <a:rPr sz="950">
                <a:solidFill>
                  <a:srgbClr val="1E1E1E"/>
                </a:solidFill>
                <a:latin typeface="Arial"/>
              </a:rPr>
              <a:t>Safety Operations Centers at refineries, chemical hubs, and steel plants.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Forest &amp; Wilderness Services: </a:t>
            </a:r>
            <a:r>
              <a:rPr sz="950">
                <a:solidFill>
                  <a:srgbClr val="1E1E1E"/>
                </a:solidFill>
                <a:latin typeface="Arial"/>
              </a:rPr>
              <a:t>Forest Protection Divisions guarding national parks and biosphere reserves.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47472" y="3657600"/>
            <a:ext cx="4983480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Social &amp; Economic Benefits: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Life Safety in Toxic Corridors: </a:t>
            </a:r>
            <a:r>
              <a:rPr sz="950">
                <a:solidFill>
                  <a:srgbClr val="1E1E1E"/>
                </a:solidFill>
                <a:latin typeface="Arial"/>
              </a:rPr>
              <a:t>Proactive evacuation isopleths protect civilian settlements downwind of chemical disasters.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Asset &amp; Infrastructure Protection: </a:t>
            </a:r>
            <a:r>
              <a:rPr sz="950">
                <a:solidFill>
                  <a:srgbClr val="1E1E1E"/>
                </a:solidFill>
                <a:latin typeface="Arial"/>
              </a:rPr>
              <a:t>Detects abnormal flare blowouts before uncontained catastrophic refinery explosions occur.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Slashes False Alarm Overhead: </a:t>
            </a:r>
            <a:r>
              <a:rPr sz="950">
                <a:solidFill>
                  <a:srgbClr val="1E1E1E"/>
                </a:solidFill>
                <a:latin typeface="Arial"/>
              </a:rPr>
              <a:t>Eliminates wasteful emergency mobilization caused by routine flaring misidentifications.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623560" y="1133856"/>
            <a:ext cx="6217920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Environmental &amp; Governance Benefits: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Industrial Emissions Compliance Auditing: </a:t>
            </a:r>
            <a:r>
              <a:rPr sz="950">
                <a:solidFill>
                  <a:srgbClr val="1E1E1E"/>
                </a:solidFill>
                <a:latin typeface="Arial"/>
              </a:rPr>
              <a:t>Provides empirical, continuous satellite monitoring of permitted vs. illegal flaring and fugitive emissions across India's industrial belts.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Forest Boundary Encroachment Warning: </a:t>
            </a:r>
            <a:r>
              <a:rPr sz="950">
                <a:solidFill>
                  <a:srgbClr val="1E1E1E"/>
                </a:solidFill>
                <a:latin typeface="Arial"/>
              </a:rPr>
              <a:t>Geodesic buffer engine computes real-time threat distance to protected wilderness reserves, stopping wildfires before boundary penetration.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Data-Driven Emergency Governance: </a:t>
            </a:r>
            <a:r>
              <a:rPr sz="950">
                <a:solidFill>
                  <a:srgbClr val="1E1E1E"/>
                </a:solidFill>
                <a:latin typeface="Arial"/>
              </a:rPr>
              <a:t>Standardizes emergency response with automated Incident Action Plans (IAPs), HazMat UN placards, and immediate responder coordination.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50">
                <a:solidFill>
                  <a:srgbClr val="1E1E1E"/>
                </a:solidFill>
                <a:latin typeface="Arial"/>
              </a:rPr>
              <a:t>• </a:t>
            </a:r>
            <a:r>
              <a:rPr sz="950" b="1">
                <a:solidFill>
                  <a:srgbClr val="000000"/>
                </a:solidFill>
                <a:latin typeface="Arial"/>
              </a:rPr>
              <a:t>Climate &amp; Methane Mitigation: </a:t>
            </a:r>
            <a:r>
              <a:rPr sz="950">
                <a:solidFill>
                  <a:srgbClr val="1E1E1E"/>
                </a:solidFill>
                <a:latin typeface="Arial"/>
              </a:rPr>
              <a:t>Quantifies high-temperature industrial combustion volumes to support national carbon accounting and fugitive methane reduction targets.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45920" y="109728"/>
            <a:ext cx="8046720" cy="914400"/>
          </a:xfrm>
        </p:spPr>
        <p:txBody>
          <a:bodyPr/>
          <a:lstStyle/>
          <a:p>
            <a:pPr eaLnBrk="1" hangingPunct="1" algn="ctr">
              <a:defRPr sz="1800" b="1">
                <a:solidFill>
                  <a:srgbClr val="000000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0000"/>
                </a:solidFill>
                <a:latin typeface="Arial"/>
              </a:defRPr>
            </a:pPr>
            <a:r>
              <a:t>Thinkers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256032" y="1078992"/>
            <a:ext cx="11658600" cy="18288"/>
          </a:xfrm>
          <a:prstGeom prst="rect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1" name="Rectangle 17410"/>
          <p:cNvSpPr/>
          <p:nvPr/>
        </p:nvSpPr>
        <p:spPr>
          <a:xfrm>
            <a:off x="5440680" y="1115568"/>
            <a:ext cx="13716" cy="4983480"/>
          </a:xfrm>
          <a:prstGeom prst="rect">
            <a:avLst/>
          </a:prstGeom>
          <a:solidFill>
            <a:srgbClr val="B9C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347472" y="1133856"/>
            <a:ext cx="4983480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Research &amp; Scientific Literature: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1E1E1E"/>
                </a:solidFill>
                <a:latin typeface="Arial"/>
              </a:rPr>
              <a:t>• </a:t>
            </a:r>
            <a:r>
              <a:rPr sz="900" b="1">
                <a:solidFill>
                  <a:srgbClr val="000000"/>
                </a:solidFill>
                <a:latin typeface="Arial"/>
              </a:rPr>
              <a:t>Dozier, J. (1981): </a:t>
            </a:r>
            <a:r>
              <a:rPr sz="900">
                <a:solidFill>
                  <a:srgbClr val="1E1E1E"/>
                </a:solidFill>
                <a:latin typeface="Arial"/>
              </a:rPr>
              <a:t>"A method for satellite identification of surface temperature fields of subpixel resolving scale." Remote Sensing of Environment, 11(1), 221-229. [Physical basis for sub-pixel Planck inversion]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1E1E1E"/>
                </a:solidFill>
                <a:latin typeface="Arial"/>
              </a:rPr>
              <a:t>• </a:t>
            </a:r>
            <a:r>
              <a:rPr sz="900" b="1">
                <a:solidFill>
                  <a:srgbClr val="000000"/>
                </a:solidFill>
                <a:latin typeface="Arial"/>
              </a:rPr>
              <a:t>Lundberg, S. M., &amp; Lee, S.-I. (2017): </a:t>
            </a:r>
            <a:r>
              <a:rPr sz="900">
                <a:solidFill>
                  <a:srgbClr val="1E1E1E"/>
                </a:solidFill>
                <a:latin typeface="Arial"/>
              </a:rPr>
              <a:t>"A Unified Approach to Interpreting Model Predictions." NeurIPS 30. [Exact polynomial TreeSHAP dynamic programming algorithm]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1E1E1E"/>
                </a:solidFill>
                <a:latin typeface="Arial"/>
              </a:rPr>
              <a:t>• </a:t>
            </a:r>
            <a:r>
              <a:rPr sz="900" b="1">
                <a:solidFill>
                  <a:srgbClr val="000000"/>
                </a:solidFill>
                <a:latin typeface="Arial"/>
              </a:rPr>
              <a:t>Pasquill, F. (1961) &amp; Briggs, G. A. (1975): </a:t>
            </a:r>
            <a:r>
              <a:rPr sz="900">
                <a:solidFill>
                  <a:srgbClr val="1E1E1E"/>
                </a:solidFill>
                <a:latin typeface="Arial"/>
              </a:rPr>
              <a:t>"Atmospheric Diffusion &amp; Plume Rise Predictions." US Atomic Energy Commission. [Gaussian dispersion &amp; buoyant plume model]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1E1E1E"/>
                </a:solidFill>
                <a:latin typeface="Arial"/>
              </a:rPr>
              <a:t>• </a:t>
            </a:r>
            <a:r>
              <a:rPr sz="900" b="1">
                <a:solidFill>
                  <a:srgbClr val="000000"/>
                </a:solidFill>
                <a:latin typeface="Arial"/>
              </a:rPr>
              <a:t>Giglio, L., et al. (2016): </a:t>
            </a:r>
            <a:r>
              <a:rPr sz="900">
                <a:solidFill>
                  <a:srgbClr val="1E1E1E"/>
                </a:solidFill>
                <a:latin typeface="Arial"/>
              </a:rPr>
              <a:t>"The Collection 6 MODIS active fire detection algorithm and fire products." Remote Sensing of Environment, 178, 31-41.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1E1E1E"/>
                </a:solidFill>
                <a:latin typeface="Arial"/>
              </a:rPr>
              <a:t>• </a:t>
            </a:r>
            <a:r>
              <a:rPr sz="900" b="1">
                <a:solidFill>
                  <a:srgbClr val="000000"/>
                </a:solidFill>
                <a:latin typeface="Arial"/>
              </a:rPr>
              <a:t>Wooster, M. J., et al. (2005): </a:t>
            </a:r>
            <a:r>
              <a:rPr sz="900">
                <a:solidFill>
                  <a:srgbClr val="1E1E1E"/>
                </a:solidFill>
                <a:latin typeface="Arial"/>
              </a:rPr>
              <a:t>"Retrieval of biomass combustion rates and total heat output using Fire Radiative Power (FRP)." J. Geophys. Res.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623560" y="1133856"/>
            <a:ext cx="6217920" cy="4983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50" b="1" u="sng">
                <a:solidFill>
                  <a:srgbClr val="2B5B84"/>
                </a:solidFill>
                <a:latin typeface="Arial"/>
              </a:defRPr>
            </a:pPr>
            <a:r>
              <a:t>Operational Datasets, APIs &amp; Standards: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1E1E1E"/>
                </a:solidFill>
                <a:latin typeface="Arial"/>
              </a:rPr>
              <a:t>• </a:t>
            </a:r>
            <a:r>
              <a:rPr sz="900" b="1">
                <a:solidFill>
                  <a:srgbClr val="000000"/>
                </a:solidFill>
                <a:latin typeface="Arial"/>
              </a:rPr>
              <a:t>NASA FIRMS Telemetry API: </a:t>
            </a:r>
            <a:r>
              <a:rPr sz="900">
                <a:solidFill>
                  <a:srgbClr val="1E1E1E"/>
                </a:solidFill>
                <a:latin typeface="Arial"/>
              </a:rPr>
              <a:t>Near Real-Time thermal anomaly detections from VIIRS (S-NPP, NOAA-20, NOAA-21) and MODIS (Terra/Aqua). https://firms.modaps.eosdis.nasa.gov/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1E1E1E"/>
                </a:solidFill>
                <a:latin typeface="Arial"/>
              </a:rPr>
              <a:t>• </a:t>
            </a:r>
            <a:r>
              <a:rPr sz="900" b="1">
                <a:solidFill>
                  <a:srgbClr val="000000"/>
                </a:solidFill>
                <a:latin typeface="Arial"/>
              </a:rPr>
              <a:t>ESA WorldCover 10m: </a:t>
            </a:r>
            <a:r>
              <a:rPr sz="900">
                <a:solidFill>
                  <a:srgbClr val="1E1E1E"/>
                </a:solidFill>
                <a:latin typeface="Arial"/>
              </a:rPr>
              <a:t>Global 10m Land Use / Land Cover (LULC) classification based on Sentinel-1 and Sentinel-2 data. European Space Agency.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1E1E1E"/>
                </a:solidFill>
                <a:latin typeface="Arial"/>
              </a:rPr>
              <a:t>• </a:t>
            </a:r>
            <a:r>
              <a:rPr sz="900" b="1">
                <a:solidFill>
                  <a:srgbClr val="000000"/>
                </a:solidFill>
                <a:latin typeface="Arial"/>
              </a:rPr>
              <a:t>Copernicus Sentinel-2 Level-2A: </a:t>
            </a:r>
            <a:r>
              <a:rPr sz="900">
                <a:solidFill>
                  <a:srgbClr val="1E1E1E"/>
                </a:solidFill>
                <a:latin typeface="Arial"/>
              </a:rPr>
              <a:t>Bottom-of-Atmosphere (BOA) surface reflectance for spectral indices (NDVI, NBR, SWIR ratios).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1E1E1E"/>
                </a:solidFill>
                <a:latin typeface="Arial"/>
              </a:rPr>
              <a:t>• </a:t>
            </a:r>
            <a:r>
              <a:rPr sz="900" b="1">
                <a:solidFill>
                  <a:srgbClr val="000000"/>
                </a:solidFill>
                <a:latin typeface="Arial"/>
              </a:rPr>
              <a:t>NOAA / EPA CAMEO Chemical Database: </a:t>
            </a:r>
            <a:r>
              <a:rPr sz="900">
                <a:solidFill>
                  <a:srgbClr val="1E1E1E"/>
                </a:solidFill>
                <a:latin typeface="Arial"/>
              </a:rPr>
              <a:t>Hazard profiles, toxic isolation distances, IDLH, ERPG, and AEGL concentration thresholds.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900">
                <a:solidFill>
                  <a:srgbClr val="1E1E1E"/>
                </a:solidFill>
                <a:latin typeface="Arial"/>
              </a:rPr>
              <a:t>• </a:t>
            </a:r>
            <a:r>
              <a:rPr sz="900" b="1">
                <a:solidFill>
                  <a:srgbClr val="000000"/>
                </a:solidFill>
                <a:latin typeface="Arial"/>
              </a:rPr>
              <a:t>Open-Meteo Atmospheric Weather API: </a:t>
            </a:r>
            <a:r>
              <a:rPr sz="900">
                <a:solidFill>
                  <a:srgbClr val="1E1E1E"/>
                </a:solidFill>
                <a:latin typeface="Arial"/>
              </a:rPr>
              <a:t>High-resolution real-time boundary layer wind vectors (speed, direction) and ambient surface temperatures.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