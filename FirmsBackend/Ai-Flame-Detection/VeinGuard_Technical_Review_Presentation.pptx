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63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Occupational Vascular Disease &amp; Personal Safety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EE"/>
                </a:solidFill>
                <a:latin typeface="Aptos"/>
              </a:rPr>
              <a:t>Two critical real-world problems addressed by one wearable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5624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BA9B6"/>
                </a:solidFill>
                <a:latin typeface="Aptos"/>
              </a:rPr>
              <a:t>VEINGUARD •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BA9B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t>• The occupational vascular burden: Prolonged standing is associated with elevated risk of venous symptoms, CVI and varicose veins in standing-intensive occupations.</a:t>
            </a:r>
          </a:p>
          <a:p>
            <a:pPr>
              <a:spcAft>
                <a:spcPts val="900"/>
              </a:spcAft>
            </a:pPr>
            <a:r>
              <a:t>• Biomechanical cause: Static standing maintains high hydrostatic venous pressure in the lower limb, promoting venous pooling and progressive valve stress.</a:t>
            </a:r>
          </a:p>
          <a:p>
            <a:pPr>
              <a:spcAft>
                <a:spcPts val="900"/>
              </a:spcAft>
            </a:pPr>
            <a:r>
              <a:t>• Personal safety gap: Physical panic buttons and phone-based SOS workflows require overt manual access and may be difficult to activate during restraint.</a:t>
            </a:r>
          </a:p>
          <a:p>
            <a:pPr>
              <a:spcAft>
                <a:spcPts val="900"/>
              </a:spcAft>
            </a:pPr>
            <a:r>
              <a:t>• Project objective: Design a dual-domain smart anklet for postural vascular monitoring + hands-free covert emergency signaling within a ₹2,500 prototype target.</a:t>
            </a:r>
          </a:p>
        </p:txBody>
      </p:sp>
      <p:pic>
        <p:nvPicPr>
          <p:cNvPr id="9" name="Picture 8" descr="wide_infographic_poster_with_a_clean_modern_med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914400"/>
            <a:ext cx="5349240" cy="4983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5623560"/>
            <a:ext cx="5074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44556"/>
                </a:solidFill>
                <a:latin typeface="Aptos"/>
              </a:rPr>
              <a:t>Calf-muscle pump: static venous pooling vs active upward blood return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126480"/>
            <a:ext cx="11155680" cy="320040"/>
          </a:xfrm>
          <a:prstGeom prst="roundRect">
            <a:avLst/>
          </a:prstGeom>
          <a:solidFill>
            <a:srgbClr val="FFF7EB"/>
          </a:solidFill>
          <a:ln>
            <a:solidFill>
              <a:srgbClr val="F2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190488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C4E30"/>
                </a:solidFill>
                <a:latin typeface="Aptos"/>
              </a:rPr>
              <a:t>Technical review note: epidemiological prevalence and pressure values should be cited to the specific literature used in the final report.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63C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Why the Ankle?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EE"/>
                </a:solidFill>
                <a:latin typeface="Aptos"/>
              </a:rPr>
              <a:t>Biomechanical justification for ankle-mounted kinematics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5624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BA9B6"/>
                </a:solidFill>
                <a:latin typeface="Aptos"/>
              </a:rPr>
              <a:t>VEINGUARD •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BA9B6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t>• Posture ambiguity: Wrist orientation can remain similar during sitting and standing; ankle orientation provides a more direct lower-limb posture signal.</a:t>
            </a:r>
          </a:p>
          <a:p>
            <a:pPr>
              <a:spcAft>
                <a:spcPts val="900"/>
              </a:spcAft>
            </a:pPr>
            <a:r>
              <a:t>• Calf-pump physics: An ankle IMU can observe plantarflexion and repeated calf-raise motion associated with activation of the calf-muscle pump.</a:t>
            </a:r>
          </a:p>
          <a:p>
            <a:pPr>
              <a:spcAft>
                <a:spcPts val="900"/>
              </a:spcAft>
            </a:pPr>
            <a:r>
              <a:t>• Hemodynamic relevance: The ankle is close to the lower-limb venous region where gravitational pooling effects are most pronounced.</a:t>
            </a:r>
          </a:p>
          <a:p>
            <a:pPr>
              <a:spcAft>
                <a:spcPts val="900"/>
              </a:spcAft>
            </a:pPr>
            <a:r>
              <a:t>• Covert ergonomics: Foot-to-foot tapping can be performed without reaching for a visible device.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960120"/>
            <a:ext cx="1965960" cy="502920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22392" y="1078992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Criterion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960120"/>
            <a:ext cx="1965960" cy="502920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1078992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Smartwatch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59" y="960120"/>
            <a:ext cx="2148840" cy="502920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54311" y="1078992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Smart Anklet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463040"/>
            <a:ext cx="19659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392" y="1600200"/>
            <a:ext cx="181965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F2731"/>
                </a:solidFill>
                <a:latin typeface="Aptos"/>
              </a:rPr>
              <a:t>Static standing discrimination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463040"/>
            <a:ext cx="19659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1600200"/>
            <a:ext cx="181965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F2731"/>
                </a:solidFill>
                <a:latin typeface="Aptos"/>
              </a:rPr>
              <a:t>Indirect / ambiguous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59" y="1463040"/>
            <a:ext cx="214884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1" y="1600200"/>
            <a:ext cx="200253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F2731"/>
                </a:solidFill>
                <a:latin typeface="Aptos"/>
              </a:rPr>
              <a:t>Direct ankle orientation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267712"/>
            <a:ext cx="19659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22392" y="2404872"/>
            <a:ext cx="181965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F2731"/>
                </a:solidFill>
                <a:latin typeface="Aptos"/>
              </a:rPr>
              <a:t>Calf-pump / plantarflexion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267712"/>
            <a:ext cx="19659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2404872"/>
            <a:ext cx="181965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F2731"/>
                </a:solidFill>
                <a:latin typeface="Aptos"/>
              </a:rPr>
              <a:t>Limited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59" y="2267712"/>
            <a:ext cx="214884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1" y="2404872"/>
            <a:ext cx="200253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F2731"/>
                </a:solidFill>
                <a:latin typeface="Aptos"/>
              </a:rPr>
              <a:t>Directly observable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3072384"/>
            <a:ext cx="19659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22392" y="3209544"/>
            <a:ext cx="181965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F2731"/>
                </a:solidFill>
                <a:latin typeface="Aptos"/>
              </a:rPr>
              <a:t>Covert foot-tap SOS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3072384"/>
            <a:ext cx="19659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3209544"/>
            <a:ext cx="181965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F2731"/>
                </a:solidFill>
                <a:latin typeface="Aptos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59" y="3072384"/>
            <a:ext cx="214884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54311" y="3209544"/>
            <a:ext cx="200253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F2731"/>
                </a:solidFill>
                <a:latin typeface="Aptos"/>
              </a:rPr>
              <a:t>Native interaction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3877056"/>
            <a:ext cx="19659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2392" y="4014216"/>
            <a:ext cx="181965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F2731"/>
                </a:solidFill>
                <a:latin typeface="Aptos"/>
              </a:rPr>
              <a:t>Near lower-limb pooling region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877056"/>
            <a:ext cx="19659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88352" y="4014216"/>
            <a:ext cx="181965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F2731"/>
                </a:solidFill>
                <a:latin typeface="Aptos"/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59" y="3877056"/>
            <a:ext cx="214884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4311" y="4014216"/>
            <a:ext cx="200253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F2731"/>
                </a:solidFill>
                <a:latin typeface="Aptos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49240" y="4617720"/>
            <a:ext cx="6080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49240" y="4617720"/>
            <a:ext cx="73152" cy="96012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13831" y="4727448"/>
            <a:ext cx="5806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Engineering 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3831" y="5093208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Sensor placement is selected to maximize lower-limb kinematic observability and enable a discreet interaction gesture.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63C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Proposed Solution — VeinGuard Smart Anklet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EE"/>
                </a:solidFill>
                <a:latin typeface="Aptos"/>
              </a:rPr>
              <a:t>Fashion-disguised vascular health monitoring and emergency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5624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BA9B6"/>
                </a:solidFill>
                <a:latin typeface="Aptos"/>
              </a:rPr>
              <a:t>VEINGUARD •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BA9B6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6012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960120"/>
            <a:ext cx="73152" cy="109728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069848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FORM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3560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Embedded electronics inside a discrete PETG charm pod attached to an anklet chain.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402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240280"/>
            <a:ext cx="73152" cy="1417320"/>
          </a:xfrm>
          <a:prstGeom prst="roundRect">
            <a:avLst/>
          </a:prstGeom>
          <a:solidFill>
            <a:srgbClr val="9C2D2D"/>
          </a:solidFill>
          <a:ln>
            <a:solidFill>
              <a:srgbClr val="9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350008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VASCULAR PILLAR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71576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• Static-standing tracking</a:t>
            </a:r>
            <a:br/>
            <a:r>
              <a:t>• Calf-raise validation</a:t>
            </a:r>
            <a:br/>
            <a:r>
              <a:t>• Relative NIR/PPG trend logging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8404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840480"/>
            <a:ext cx="73152" cy="141732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950208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SAFETY PILLAR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31596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• Covert multi-tap SOS</a:t>
            </a:r>
            <a:br/>
            <a:r>
              <a:t>• Haptic confirmation</a:t>
            </a:r>
            <a:br/>
            <a:r>
              <a:t>• High-g fall + immobility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097280"/>
            <a:ext cx="2971800" cy="4480560"/>
          </a:xfrm>
          <a:prstGeom prst="roundRect">
            <a:avLst/>
          </a:prstGeom>
          <a:solidFill>
            <a:srgbClr val="E8EDF2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37160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22640"/>
                </a:solidFill>
                <a:latin typeface="Aptos"/>
              </a:rPr>
              <a:t>VEINGUARD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874519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8663C"/>
                </a:solidFill>
                <a:latin typeface="Aptos"/>
              </a:rPr>
              <a:t>SMART ANKLET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2606040"/>
            <a:ext cx="1417320" cy="1417320"/>
          </a:xfrm>
          <a:prstGeom prst="roundRect">
            <a:avLst/>
          </a:prstGeom>
          <a:solidFill>
            <a:srgbClr val="122640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907792"/>
            <a:ext cx="11155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ESP32-C3</a:t>
            </a:r>
            <a:br/>
            <a:r>
              <a:t>+ Sensors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70916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44556"/>
                </a:solidFill>
                <a:latin typeface="Aptos"/>
              </a:rPr>
              <a:t>BLE 5.0 telemetry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960120"/>
            <a:ext cx="39776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35240" y="960120"/>
            <a:ext cx="73152" cy="123444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1069848"/>
            <a:ext cx="3703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COMPANION MOBILE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1435608"/>
            <a:ext cx="365759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Native Android background/foreground service • BLE telemetry • silent emergency dispatch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468880"/>
            <a:ext cx="3977639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35240" y="2468880"/>
            <a:ext cx="73152" cy="73152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2578608"/>
            <a:ext cx="3703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BLE 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2944368"/>
            <a:ext cx="36575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Anklet → Android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429000"/>
            <a:ext cx="3977639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35240" y="3429000"/>
            <a:ext cx="73152" cy="73152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99831" y="3538728"/>
            <a:ext cx="3703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GPS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99831" y="3904487"/>
            <a:ext cx="36575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Acquire coordinates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4389120"/>
            <a:ext cx="3977639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35240" y="4389120"/>
            <a:ext cx="73152" cy="731520"/>
          </a:xfrm>
          <a:prstGeom prst="roundRect">
            <a:avLst/>
          </a:prstGeom>
          <a:solidFill>
            <a:srgbClr val="9C2D2D"/>
          </a:solidFill>
          <a:ln>
            <a:solidFill>
              <a:srgbClr val="9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9831" y="4498848"/>
            <a:ext cx="3703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SMS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9831" y="4864608"/>
            <a:ext cx="36575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Send Maps link to contacts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92240" y="3337560"/>
            <a:ext cx="1051560" cy="0"/>
          </a:xfrm>
          <a:prstGeom prst="line">
            <a:avLst/>
          </a:prstGeom>
          <a:ln w="25400">
            <a:solidFill>
              <a:srgbClr val="B86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02920" y="6126480"/>
            <a:ext cx="11155680" cy="320040"/>
          </a:xfrm>
          <a:prstGeom prst="roundRect">
            <a:avLst/>
          </a:prstGeom>
          <a:solidFill>
            <a:srgbClr val="FFF7EB"/>
          </a:solidFill>
          <a:ln>
            <a:solidFill>
              <a:srgbClr val="F2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6190488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C4E30"/>
                </a:solidFill>
                <a:latin typeface="Aptos"/>
              </a:rPr>
              <a:t>PPG output is treated as a relative optical trend signal; it is not presented as a diagnostic measurement of venous disease.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63C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Hardware Architecture &amp; Sensor Interfacing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EE"/>
                </a:solidFill>
                <a:latin typeface="Aptos"/>
              </a:rPr>
              <a:t>High-efficiency, low-power embedded system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5624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BA9B6"/>
                </a:solidFill>
                <a:latin typeface="Aptos"/>
              </a:rPr>
              <a:t>VEINGUARD •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BA9B6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4884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60" y="2148840"/>
            <a:ext cx="73152" cy="1234440"/>
          </a:xfrm>
          <a:prstGeom prst="round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2258568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ESP32-C3 SUPERMini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624328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160 MHz 32-bit RISC-V • ~400 KB SRAM • BLE 5.0 • low-power modes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914400"/>
            <a:ext cx="2880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914400"/>
            <a:ext cx="73152" cy="100584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024128"/>
            <a:ext cx="2606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MPU-6050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38988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6-axis IMU • I²C • 0x68</a:t>
            </a:r>
            <a:br/>
            <a:r>
              <a:t>Posture + tap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251960"/>
            <a:ext cx="2880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4251960"/>
            <a:ext cx="73152" cy="100584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361688"/>
            <a:ext cx="2606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MAX30102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7274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Red/IR optical sensing • I²C • 0x57</a:t>
            </a:r>
            <a:br/>
            <a:r>
              <a:t>Motion-gated PPG trend logging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914400"/>
            <a:ext cx="2880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41080" y="914400"/>
            <a:ext cx="73152" cy="100584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5672" y="1024128"/>
            <a:ext cx="2606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2 × 10K NTC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138988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ESP32 ADC</a:t>
            </a:r>
            <a:br/>
            <a:r>
              <a:t>Medial–lateral ΔT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4251960"/>
            <a:ext cx="2880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41080" y="4251960"/>
            <a:ext cx="73152" cy="100584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5672" y="4361688"/>
            <a:ext cx="2606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HAPTIC DRIVER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5672" y="47274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BC547 + vibration motor</a:t>
            </a:r>
            <a:br/>
            <a:r>
              <a:t>1N4148 flyback clamp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520440" y="1417320"/>
            <a:ext cx="640080" cy="960120"/>
          </a:xfrm>
          <a:prstGeom prst="line">
            <a:avLst/>
          </a:prstGeom>
          <a:ln w="25400">
            <a:solidFill>
              <a:srgbClr val="2C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520440" y="3154680"/>
            <a:ext cx="640080" cy="1600200"/>
          </a:xfrm>
          <a:prstGeom prst="line">
            <a:avLst/>
          </a:prstGeom>
          <a:ln w="25400">
            <a:solidFill>
              <a:srgbClr val="2C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001000" y="1417320"/>
            <a:ext cx="548640" cy="960120"/>
          </a:xfrm>
          <a:prstGeom prst="line">
            <a:avLst/>
          </a:prstGeom>
          <a:ln w="25400">
            <a:solidFill>
              <a:srgbClr val="2C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01000" y="3154680"/>
            <a:ext cx="548640" cy="1600200"/>
          </a:xfrm>
          <a:prstGeom prst="line">
            <a:avLst/>
          </a:prstGeom>
          <a:ln w="25400">
            <a:solidFill>
              <a:srgbClr val="2C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063240" y="5349240"/>
            <a:ext cx="60350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63240" y="5349240"/>
            <a:ext cx="73152" cy="640080"/>
          </a:xfrm>
          <a:prstGeom prst="roundRect">
            <a:avLst/>
          </a:prstGeom>
          <a:solidFill>
            <a:srgbClr val="27765D"/>
          </a:solidFill>
          <a:ln>
            <a:solidFill>
              <a:srgbClr val="277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27832" y="5458968"/>
            <a:ext cx="5760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SHARED BUS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27832" y="5824727"/>
            <a:ext cx="571500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SDA/SCL shared by MPU-6050 + MAX30102 • analog channels reserved for NTC thermistors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63C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Circuit Schematic, Filtering &amp; Power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EE"/>
                </a:solidFill>
                <a:latin typeface="Aptos"/>
              </a:rPr>
              <a:t>Analog conditioning and power rail stabilization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5624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BA9B6"/>
                </a:solidFill>
                <a:latin typeface="Aptos"/>
              </a:rPr>
              <a:t>VEINGUARD •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BA9B6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1440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914400"/>
            <a:ext cx="73152" cy="100584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02412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I²C BUS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GPIO 4 = SDA • GPIO 5 = SCL • 4.7 kΩ pull-ups to logic 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3566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148840"/>
            <a:ext cx="73152" cy="118872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25856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RC LOW-PASS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624328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R = 10 kΩ, C = 100 nF</a:t>
            </a:r>
            <a:br/>
            <a:r>
              <a:t>f_c = 1 / (2πRC) ≈ 159 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73152" cy="1005840"/>
          </a:xfrm>
          <a:prstGeom prst="roundRect">
            <a:avLst/>
          </a:prstGeom>
          <a:solidFill>
            <a:srgbClr val="9C2D2D"/>
          </a:solidFill>
          <a:ln>
            <a:solidFill>
              <a:srgbClr val="9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675887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MOTOR TRANSIENT CLAMPING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04164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Reverse-biased 1N4148 across motor terminals to suppress inductive back-EMF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00600"/>
            <a:ext cx="3566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800600"/>
            <a:ext cx="73152" cy="960120"/>
          </a:xfrm>
          <a:prstGeom prst="round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91032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POWER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276088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3.7 V Li battery → regulator → 3.3 V rail</a:t>
            </a:r>
            <a:br/>
            <a:r>
              <a:t>10 µF input/output decoupling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914400"/>
            <a:ext cx="71323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114300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2640"/>
                </a:solidFill>
                <a:latin typeface="Aptos"/>
              </a:rPr>
              <a:t>SIMPLIFIED POWER + SIGNAL SCHEMATIC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1920240"/>
            <a:ext cx="1143000" cy="685800"/>
          </a:xfrm>
          <a:prstGeom prst="roundRect">
            <a:avLst/>
          </a:prstGeom>
          <a:solidFill>
            <a:srgbClr val="EDF2F6"/>
          </a:solidFill>
          <a:ln>
            <a:solidFill>
              <a:srgbClr val="9BA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2029968"/>
            <a:ext cx="9966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640"/>
                </a:solidFill>
                <a:latin typeface="Aptos"/>
              </a:rPr>
              <a:t>Li-ion</a:t>
            </a:r>
            <a:br/>
            <a:r>
              <a:t>3.7V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920240"/>
            <a:ext cx="1280160" cy="685800"/>
          </a:xfrm>
          <a:prstGeom prst="roundRect">
            <a:avLst/>
          </a:prstGeom>
          <a:solidFill>
            <a:srgbClr val="EDF2F6"/>
          </a:solidFill>
          <a:ln>
            <a:solidFill>
              <a:srgbClr val="9BA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2029968"/>
            <a:ext cx="11338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640"/>
                </a:solidFill>
                <a:latin typeface="Aptos"/>
              </a:rPr>
              <a:t>3.3V</a:t>
            </a:r>
            <a:br/>
            <a:r>
              <a:t>Regulator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1371600"/>
            <a:ext cx="1234440" cy="685800"/>
          </a:xfrm>
          <a:prstGeom prst="roundRect">
            <a:avLst/>
          </a:prstGeom>
          <a:solidFill>
            <a:srgbClr val="EDF2F6"/>
          </a:solidFill>
          <a:ln>
            <a:solidFill>
              <a:srgbClr val="9BA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1481328"/>
            <a:ext cx="10881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640"/>
                </a:solidFill>
                <a:latin typeface="Aptos"/>
              </a:rPr>
              <a:t>ESP32-C3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1371600"/>
            <a:ext cx="1234440" cy="685800"/>
          </a:xfrm>
          <a:prstGeom prst="roundRect">
            <a:avLst/>
          </a:prstGeom>
          <a:solidFill>
            <a:srgbClr val="EDF2F6"/>
          </a:solidFill>
          <a:ln>
            <a:solidFill>
              <a:srgbClr val="9BA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11512" y="1481328"/>
            <a:ext cx="10881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640"/>
                </a:solidFill>
                <a:latin typeface="Aptos"/>
              </a:rPr>
              <a:t>I²C</a:t>
            </a:r>
            <a:br/>
            <a:r>
              <a:t>Sensors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3063240"/>
            <a:ext cx="1234440" cy="685800"/>
          </a:xfrm>
          <a:prstGeom prst="roundRect">
            <a:avLst/>
          </a:prstGeom>
          <a:solidFill>
            <a:srgbClr val="EDF2F6"/>
          </a:solidFill>
          <a:ln>
            <a:solidFill>
              <a:srgbClr val="9BA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2" y="3172968"/>
            <a:ext cx="10881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640"/>
                </a:solidFill>
                <a:latin typeface="Aptos"/>
              </a:rPr>
              <a:t>ADC +</a:t>
            </a:r>
            <a:br/>
            <a:r>
              <a:t>RC Filter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38360" y="3063240"/>
            <a:ext cx="1234440" cy="685800"/>
          </a:xfrm>
          <a:prstGeom prst="roundRect">
            <a:avLst/>
          </a:prstGeom>
          <a:solidFill>
            <a:srgbClr val="EDF2F6"/>
          </a:solidFill>
          <a:ln>
            <a:solidFill>
              <a:srgbClr val="9BA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11512" y="3172968"/>
            <a:ext cx="10881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640"/>
                </a:solidFill>
                <a:latin typeface="Aptos"/>
              </a:rPr>
              <a:t>NTC ×2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4617720"/>
            <a:ext cx="1234440" cy="685800"/>
          </a:xfrm>
          <a:prstGeom prst="roundRect">
            <a:avLst/>
          </a:prstGeom>
          <a:solidFill>
            <a:srgbClr val="EDF2F6"/>
          </a:solidFill>
          <a:ln>
            <a:solidFill>
              <a:srgbClr val="9BA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65592" y="4727448"/>
            <a:ext cx="10881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640"/>
                </a:solidFill>
                <a:latin typeface="Aptos"/>
              </a:rPr>
              <a:t>BC547</a:t>
            </a:r>
            <a:br/>
            <a:r>
              <a:t>Driver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60" y="4617720"/>
            <a:ext cx="1234440" cy="685800"/>
          </a:xfrm>
          <a:prstGeom prst="roundRect">
            <a:avLst/>
          </a:prstGeom>
          <a:solidFill>
            <a:srgbClr val="EDF2F6"/>
          </a:solidFill>
          <a:ln>
            <a:solidFill>
              <a:srgbClr val="9BA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11512" y="4727448"/>
            <a:ext cx="10881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640"/>
                </a:solidFill>
                <a:latin typeface="Aptos"/>
              </a:rPr>
              <a:t>Vibration</a:t>
            </a:r>
            <a:br/>
            <a:r>
              <a:t>Motor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35040" y="2267712"/>
            <a:ext cx="365760" cy="0"/>
          </a:xfrm>
          <a:prstGeom prst="line">
            <a:avLst/>
          </a:prstGeom>
          <a:ln w="25400">
            <a:solidFill>
              <a:srgbClr val="2C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680960" y="1719072"/>
            <a:ext cx="411480" cy="548640"/>
          </a:xfrm>
          <a:prstGeom prst="line">
            <a:avLst/>
          </a:prstGeom>
          <a:ln w="25400">
            <a:solidFill>
              <a:srgbClr val="2C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326880" y="1719072"/>
            <a:ext cx="411480" cy="0"/>
          </a:xfrm>
          <a:prstGeom prst="line">
            <a:avLst/>
          </a:prstGeom>
          <a:ln w="25400">
            <a:solidFill>
              <a:srgbClr val="2C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705088" y="2057400"/>
            <a:ext cx="0" cy="1005840"/>
          </a:xfrm>
          <a:prstGeom prst="line">
            <a:avLst/>
          </a:prstGeom>
          <a:ln w="25400">
            <a:solidFill>
              <a:srgbClr val="2C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326880" y="3401568"/>
            <a:ext cx="411480" cy="0"/>
          </a:xfrm>
          <a:prstGeom prst="line">
            <a:avLst/>
          </a:prstGeom>
          <a:ln w="25400">
            <a:solidFill>
              <a:srgbClr val="2C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705088" y="3749039"/>
            <a:ext cx="0" cy="868681"/>
          </a:xfrm>
          <a:prstGeom prst="line">
            <a:avLst/>
          </a:prstGeom>
          <a:ln w="25400">
            <a:solidFill>
              <a:srgbClr val="2C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326880" y="4956048"/>
            <a:ext cx="411480" cy="0"/>
          </a:xfrm>
          <a:prstGeom prst="line">
            <a:avLst/>
          </a:prstGeom>
          <a:ln w="25400">
            <a:solidFill>
              <a:srgbClr val="2C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02920" y="6126480"/>
            <a:ext cx="11155680" cy="320040"/>
          </a:xfrm>
          <a:prstGeom prst="roundRect">
            <a:avLst/>
          </a:prstGeom>
          <a:solidFill>
            <a:srgbClr val="FFF7EB"/>
          </a:solidFill>
          <a:ln>
            <a:solidFill>
              <a:srgbClr val="F2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6190488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C4E30"/>
                </a:solidFill>
                <a:latin typeface="Aptos"/>
              </a:rPr>
              <a:t>Power-regulator choice and real battery runtime should be validated with measured current and regulator quiescent current under the final load profile.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63C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Kinematic Posture &amp; Calf-Pump Validation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EE"/>
                </a:solidFill>
                <a:latin typeface="Aptos"/>
              </a:rPr>
              <a:t>Firmware-level signal processing and false-repetition rejection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5624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BA9B6"/>
                </a:solidFill>
                <a:latin typeface="Aptos"/>
              </a:rPr>
              <a:t>VEINGUARD •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BA9B6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14400"/>
            <a:ext cx="10972800" cy="640080"/>
          </a:xfrm>
          <a:prstGeom prst="round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69848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Pitch estimate:  θ = arccos(a_z / g)   •   Posture + variance thresholds determine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73152" cy="109728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029968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IMU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95728"/>
            <a:ext cx="1325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50 Hz motion stream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2468880"/>
            <a:ext cx="228600" cy="0"/>
          </a:xfrm>
          <a:prstGeom prst="line">
            <a:avLst/>
          </a:prstGeom>
          <a:ln w="25400">
            <a:solidFill>
              <a:srgbClr val="3445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68880" y="192024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68880" y="1920240"/>
            <a:ext cx="73152" cy="109728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2029968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POSTURE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95728"/>
            <a:ext cx="1325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Standing / walking / sitting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0" y="2468880"/>
            <a:ext cx="228600" cy="0"/>
          </a:xfrm>
          <a:prstGeom prst="line">
            <a:avLst/>
          </a:prstGeom>
          <a:ln w="25400">
            <a:solidFill>
              <a:srgbClr val="3445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89120" y="192024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1920240"/>
            <a:ext cx="73152" cy="109728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2029968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30 min STATIC TIMER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395728"/>
            <a:ext cx="1325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Reminder threshold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0" y="2468880"/>
            <a:ext cx="228600" cy="0"/>
          </a:xfrm>
          <a:prstGeom prst="line">
            <a:avLst/>
          </a:prstGeom>
          <a:ln w="25400">
            <a:solidFill>
              <a:srgbClr val="3445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9360" y="192024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1920240"/>
            <a:ext cx="73152" cy="109728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029968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CALF-RAISE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395728"/>
            <a:ext cx="1325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&gt;15° plantarflexion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55280" y="2468880"/>
            <a:ext cx="228599" cy="0"/>
          </a:xfrm>
          <a:prstGeom prst="line">
            <a:avLst/>
          </a:prstGeom>
          <a:ln w="25400">
            <a:solidFill>
              <a:srgbClr val="3445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0" y="192024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1920240"/>
            <a:ext cx="73152" cy="109728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2029968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HOLD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395728"/>
            <a:ext cx="1325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1.0–3.0 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75520" y="2468880"/>
            <a:ext cx="228600" cy="0"/>
          </a:xfrm>
          <a:prstGeom prst="line">
            <a:avLst/>
          </a:prstGeom>
          <a:ln w="25400">
            <a:solidFill>
              <a:srgbClr val="3445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149840" y="192024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149840" y="1920240"/>
            <a:ext cx="73152" cy="109728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14432" y="2029968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REP ACCEPT / REJECT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4432" y="2395728"/>
            <a:ext cx="1325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Half-reps discarded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657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3657600"/>
            <a:ext cx="73152" cy="1554480"/>
          </a:xfrm>
          <a:prstGeom prst="roundRect">
            <a:avLst/>
          </a:prstGeom>
          <a:solidFill>
            <a:srgbClr val="9C2D2D"/>
          </a:solidFill>
          <a:ln>
            <a:solidFill>
              <a:srgbClr val="9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" y="376732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STATE THRESHOLDS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1" y="4133087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Static standing: |a_z| ≈ 1 g + low variance</a:t>
            </a:r>
            <a:br/>
            <a:r>
              <a:t>Walking: cyclic motion ~1.5–2.5 Hz</a:t>
            </a:r>
            <a:br/>
            <a:r>
              <a:t>Sitting/elevation: gravity vector tilted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3657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389120" y="3657600"/>
            <a:ext cx="73152" cy="1554480"/>
          </a:xfrm>
          <a:prstGeom prst="roundRect">
            <a:avLst/>
          </a:prstGeom>
          <a:solidFill>
            <a:srgbClr val="27765D"/>
          </a:solidFill>
          <a:ln>
            <a:solidFill>
              <a:srgbClr val="277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3712" y="376732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MOTION-GATED OPTICAL SAMPLING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4133087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MAX30102 optical samples accepted only during confirmed low-motion states to reduce motion artifact.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3657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38160" y="3657600"/>
            <a:ext cx="73152" cy="1554480"/>
          </a:xfrm>
          <a:prstGeom prst="round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2752" y="376732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OUTPUTS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2752" y="4133087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• Static-standing duration</a:t>
            </a:r>
            <a:br/>
            <a:r>
              <a:t>• Valid calf-raise count</a:t>
            </a:r>
            <a:br/>
            <a:r>
              <a:t>• Rest-state optical trend samples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6126480"/>
            <a:ext cx="11155680" cy="320040"/>
          </a:xfrm>
          <a:prstGeom prst="roundRect">
            <a:avLst/>
          </a:prstGeom>
          <a:solidFill>
            <a:srgbClr val="FFF7EB"/>
          </a:solidFill>
          <a:ln>
            <a:solidFill>
              <a:srgbClr val="F2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6190488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C4E30"/>
                </a:solidFill>
                <a:latin typeface="Aptos"/>
              </a:rPr>
              <a:t>Thresholds shown are engineering design parameters and must be calibrated on representative users and validated experimentally.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63C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Covert Safety Protocol &amp; Emergency Dispatch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EE"/>
                </a:solidFill>
                <a:latin typeface="Aptos"/>
              </a:rPr>
              <a:t>Multi-stage false-positive rejection and autonomous fall 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5624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BA9B6"/>
                </a:solidFill>
                <a:latin typeface="Aptos"/>
              </a:rPr>
              <a:t>VEINGUARD •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BA9B6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686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640"/>
                </a:solidFill>
                <a:latin typeface="Aptos"/>
              </a:rPr>
              <a:t>A. COVERT TAP CONFIRMATION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36192"/>
            <a:ext cx="9966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9C2D2D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83080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640"/>
                </a:solidFill>
                <a:latin typeface="Aptos"/>
              </a:rPr>
              <a:t>3 taps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39112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44556"/>
                </a:solidFill>
                <a:latin typeface="Aptos"/>
              </a:rPr>
              <a:t>1.5–3.0 Hz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37360" y="1920240"/>
            <a:ext cx="164592" cy="0"/>
          </a:xfrm>
          <a:prstGeom prst="line">
            <a:avLst/>
          </a:prstGeom>
          <a:ln w="25400">
            <a:solidFill>
              <a:srgbClr val="B86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47672" y="141732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0824" y="1536192"/>
            <a:ext cx="9966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9C2D2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0824" y="1783080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640"/>
                </a:solidFill>
                <a:latin typeface="Aptos"/>
              </a:rPr>
              <a:t>Haptic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0824" y="2039112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44556"/>
                </a:solidFill>
                <a:latin typeface="Aptos"/>
              </a:rPr>
              <a:t>single pulse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90672" y="1920240"/>
            <a:ext cx="164591" cy="0"/>
          </a:xfrm>
          <a:prstGeom prst="line">
            <a:avLst/>
          </a:prstGeom>
          <a:ln w="25400">
            <a:solidFill>
              <a:srgbClr val="B86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300984" y="141732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1536192"/>
            <a:ext cx="9966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9C2D2D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1783080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640"/>
                </a:solidFill>
                <a:latin typeface="Aptos"/>
              </a:rPr>
              <a:t>4th tap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2039112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44556"/>
                </a:solidFill>
                <a:latin typeface="Aptos"/>
              </a:rPr>
              <a:t>within 1.0 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43983" y="1920240"/>
            <a:ext cx="164593" cy="0"/>
          </a:xfrm>
          <a:prstGeom prst="line">
            <a:avLst/>
          </a:prstGeom>
          <a:ln w="25400">
            <a:solidFill>
              <a:srgbClr val="B86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54296" y="141732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1536192"/>
            <a:ext cx="9966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9C2D2D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1783080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640"/>
                </a:solidFill>
                <a:latin typeface="Aptos"/>
              </a:rPr>
              <a:t>Abort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2039112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44556"/>
                </a:solidFill>
                <a:latin typeface="Aptos"/>
              </a:rPr>
              <a:t>3 s vibration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86868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640"/>
                </a:solidFill>
                <a:latin typeface="Aptos"/>
              </a:rPr>
              <a:t>B. AUTONOMOUS FALL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417320"/>
            <a:ext cx="111556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1417320"/>
            <a:ext cx="73152" cy="100584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1527048"/>
            <a:ext cx="8412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HIGH-g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1892808"/>
            <a:ext cx="795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Impact &gt; 3.5 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16368" y="1920240"/>
            <a:ext cx="146303" cy="0"/>
          </a:xfrm>
          <a:prstGeom prst="line">
            <a:avLst/>
          </a:prstGeom>
          <a:ln w="25400">
            <a:solidFill>
              <a:srgbClr val="3445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699248" y="1417320"/>
            <a:ext cx="111556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99248" y="1417320"/>
            <a:ext cx="73152" cy="100584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1527048"/>
            <a:ext cx="8412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ORIENTATION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1892808"/>
            <a:ext cx="795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Horizontal ankle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14816" y="1920240"/>
            <a:ext cx="146304" cy="0"/>
          </a:xfrm>
          <a:prstGeom prst="line">
            <a:avLst/>
          </a:prstGeom>
          <a:ln w="25400">
            <a:solidFill>
              <a:srgbClr val="3445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997696" y="1417320"/>
            <a:ext cx="111556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97696" y="1417320"/>
            <a:ext cx="73152" cy="100584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1527048"/>
            <a:ext cx="8412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IMMOBILITY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1892808"/>
            <a:ext cx="795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&gt; 10 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13264" y="1920240"/>
            <a:ext cx="146303" cy="0"/>
          </a:xfrm>
          <a:prstGeom prst="line">
            <a:avLst/>
          </a:prstGeom>
          <a:ln w="25400">
            <a:solidFill>
              <a:srgbClr val="3445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296144" y="1417320"/>
            <a:ext cx="111556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296144" y="1417320"/>
            <a:ext cx="73152" cy="1005840"/>
          </a:xfrm>
          <a:prstGeom prst="roundRect">
            <a:avLst/>
          </a:prstGeom>
          <a:solidFill>
            <a:srgbClr val="9C2D2D"/>
          </a:solidFill>
          <a:ln>
            <a:solidFill>
              <a:srgbClr val="9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60736" y="1527048"/>
            <a:ext cx="8412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DISPATCH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60736" y="1892808"/>
            <a:ext cx="795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GPS + SMS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3063240"/>
            <a:ext cx="10972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331012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2640"/>
                </a:solidFill>
                <a:latin typeface="Aptos"/>
              </a:rPr>
              <a:t>ANDROID EMERGENCY DISPATCH EXECUTION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388620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68680" y="3886200"/>
            <a:ext cx="73152" cy="96012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3271" y="3995928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BLE EVENT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1" y="436168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Anklet alert received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108960" y="4370832"/>
            <a:ext cx="320040" cy="0"/>
          </a:xfrm>
          <a:prstGeom prst="line">
            <a:avLst/>
          </a:prstGeom>
          <a:ln w="25400">
            <a:solidFill>
              <a:srgbClr val="122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520439" y="388620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520439" y="3886200"/>
            <a:ext cx="73152" cy="96012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85031" y="3995928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FOREGROUND SERVICE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85031" y="436168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Wake persistent emergency workflow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760720" y="4370832"/>
            <a:ext cx="320039" cy="0"/>
          </a:xfrm>
          <a:prstGeom prst="line">
            <a:avLst/>
          </a:prstGeom>
          <a:ln w="25400">
            <a:solidFill>
              <a:srgbClr val="122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172200" y="388620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172200" y="3886200"/>
            <a:ext cx="73152" cy="96012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36792" y="3995928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GPS FIX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792" y="436168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Acquire high-accuracy location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412480" y="4370832"/>
            <a:ext cx="320040" cy="0"/>
          </a:xfrm>
          <a:prstGeom prst="line">
            <a:avLst/>
          </a:prstGeom>
          <a:ln w="25400">
            <a:solidFill>
              <a:srgbClr val="122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8823959" y="388620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823959" y="3886200"/>
            <a:ext cx="73152" cy="96012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1" y="3995928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SMS DISPATCH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1" y="436168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Maps link → 5 preset contacts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2920" y="6126480"/>
            <a:ext cx="11155680" cy="320040"/>
          </a:xfrm>
          <a:prstGeom prst="roundRect">
            <a:avLst/>
          </a:prstGeom>
          <a:solidFill>
            <a:srgbClr val="FFF7EB"/>
          </a:solidFill>
          <a:ln>
            <a:solidFill>
              <a:srgbClr val="F2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6190488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C4E30"/>
                </a:solidFill>
                <a:latin typeface="Aptos"/>
              </a:rPr>
              <a:t>Android SMS/location behavior depends on OS version, permissions, default SMS restrictions, and foreground-service policy; implementation must be tested on the target device.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63C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Power Budget &amp; Real-World Battery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EE"/>
                </a:solidFill>
                <a:latin typeface="Aptos"/>
              </a:rPr>
              <a:t>Analytical current profile demonstrating expected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5624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BA9B6"/>
                </a:solidFill>
                <a:latin typeface="Aptos"/>
              </a:rPr>
              <a:t>VEINGUARD •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BA9B6"/>
                </a:solidFill>
                <a:latin typeface="Apto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14400"/>
            <a:ext cx="4389120" cy="457200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024128"/>
            <a:ext cx="4279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Subsystem /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914400"/>
            <a:ext cx="2011680" cy="457200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8344" y="1024128"/>
            <a:ext cx="1901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Average current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914400"/>
            <a:ext cx="2011680" cy="457200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0024" y="1024128"/>
            <a:ext cx="1901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Duty assumption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371600"/>
            <a:ext cx="4389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517904"/>
            <a:ext cx="4242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ESP32-C3 light sleep + BLE advertising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37160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2" y="1517904"/>
            <a:ext cx="18653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1.055 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137160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68312" y="1517904"/>
            <a:ext cx="18653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5% active duty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1938528"/>
            <a:ext cx="4389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2084832"/>
            <a:ext cx="4242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MPU-6050 motion sampling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93852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6632" y="2084832"/>
            <a:ext cx="18653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0.390 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193852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68312" y="2084832"/>
            <a:ext cx="18653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50 Hz / 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505456"/>
            <a:ext cx="4389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2651760"/>
            <a:ext cx="4242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MAX30102 motion-gated PPG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250545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6632" y="2651760"/>
            <a:ext cx="18653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0.024 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250545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68312" y="2651760"/>
            <a:ext cx="18653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072384"/>
            <a:ext cx="4389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218688"/>
            <a:ext cx="4242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NTC differential sampling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07238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56632" y="3218688"/>
            <a:ext cx="18653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0.0003 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95160" y="307238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68312" y="3218688"/>
            <a:ext cx="18653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0.1%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639312"/>
            <a:ext cx="4389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3785615"/>
            <a:ext cx="4242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Haptic trigger pulses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363931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56632" y="3785615"/>
            <a:ext cx="18653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0.150 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363931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68312" y="3785615"/>
            <a:ext cx="18653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0.2%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32520" y="9144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732520" y="914400"/>
            <a:ext cx="73152" cy="1143000"/>
          </a:xfrm>
          <a:prstGeom prst="roundRect">
            <a:avLst/>
          </a:prstGeom>
          <a:solidFill>
            <a:srgbClr val="9C2D2D"/>
          </a:solidFill>
          <a:ln>
            <a:solidFill>
              <a:srgbClr val="9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97112" y="1024128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TOTAL ESTIMATE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7112" y="1389888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ΣI ≈ 1.62 mA average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32520" y="23317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732520" y="2331720"/>
            <a:ext cx="73152" cy="141732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97112" y="2441448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400 mAh CELL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7112" y="2807208"/>
            <a:ext cx="2194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Runtime ≈ 400 / 1.62</a:t>
            </a:r>
            <a:br/>
            <a:r>
              <a:t>≈ 246 h ≈ 10.2 days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32520" y="3977639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732520" y="3977639"/>
            <a:ext cx="73152" cy="1417320"/>
          </a:xfrm>
          <a:prstGeom prst="roundRect">
            <a:avLst/>
          </a:prstGeom>
          <a:solidFill>
            <a:srgbClr val="2C6792"/>
          </a:solidFill>
          <a:ln>
            <a:solidFill>
              <a:srgbClr val="2C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97112" y="4087368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4000 mAh DEV PACK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7112" y="4453127"/>
            <a:ext cx="2194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Runtime ≈ 4000 / 1.62</a:t>
            </a:r>
            <a:br/>
            <a:r>
              <a:t>≈ 2,469 h ≈ 103 days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4343400"/>
            <a:ext cx="7818120" cy="1097280"/>
          </a:xfrm>
          <a:prstGeom prst="roundRect">
            <a:avLst/>
          </a:prstGeom>
          <a:solidFill>
            <a:srgbClr val="EBF2F7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4572000"/>
            <a:ext cx="7269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2640"/>
                </a:solidFill>
                <a:latin typeface="Aptos"/>
              </a:rPr>
              <a:t>Battery model:</a:t>
            </a:r>
            <a:br/>
            <a:r>
              <a:t>Runtime ≈ Battery capacity (mAh) / Average system current (mA)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6126480"/>
            <a:ext cx="11155680" cy="320040"/>
          </a:xfrm>
          <a:prstGeom prst="roundRect">
            <a:avLst/>
          </a:prstGeom>
          <a:solidFill>
            <a:srgbClr val="FFF7EB"/>
          </a:solidFill>
          <a:ln>
            <a:solidFill>
              <a:srgbClr val="F2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6190488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C4E30"/>
                </a:solidFill>
                <a:latin typeface="Aptos"/>
              </a:rPr>
              <a:t>These are idealized estimates. Final runtime must include regulator quiescent current, BLE connection duty, battery derating, self-discharge, and real sensor/motor current.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63C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Bill of Materials (BOM) &amp; Cost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EE"/>
                </a:solidFill>
                <a:latin typeface="Aptos"/>
              </a:rPr>
              <a:t>Low-cost prototype target within ₹2,500 INR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5624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BA9B6"/>
                </a:solidFill>
                <a:latin typeface="Aptos"/>
              </a:rPr>
              <a:t>VEINGUARD •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BA9B6"/>
                </a:solidFill>
                <a:latin typeface="Aptos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3840480" cy="47548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033271"/>
            <a:ext cx="37307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Item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914400"/>
            <a:ext cx="1097280" cy="47548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033271"/>
            <a:ext cx="9875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Qty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914400"/>
            <a:ext cx="1920240" cy="47548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4" y="1033271"/>
            <a:ext cx="18105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914400"/>
            <a:ext cx="1371600" cy="47548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1033271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Cost (₹)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389888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1517904"/>
            <a:ext cx="3730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ESP32-C3 SuperMini RISC-V 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389888"/>
            <a:ext cx="1097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1517904"/>
            <a:ext cx="9875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1389888"/>
            <a:ext cx="19202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32704" y="1517904"/>
            <a:ext cx="18105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Core controller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1389888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4" y="1517904"/>
            <a:ext cx="12618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700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920240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2048256"/>
            <a:ext cx="3730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MPU-6050 6-axis IMU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1920240"/>
            <a:ext cx="1097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2048256"/>
            <a:ext cx="9875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1920240"/>
            <a:ext cx="19202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32704" y="2048256"/>
            <a:ext cx="18105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Motion tracking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1920240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52944" y="2048256"/>
            <a:ext cx="12618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300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2450591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2578608"/>
            <a:ext cx="3730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MAX30102 optical module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2450591"/>
            <a:ext cx="1097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5424" y="2578608"/>
            <a:ext cx="9875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2450591"/>
            <a:ext cx="19202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32704" y="2578608"/>
            <a:ext cx="18105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PPG / optical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2450591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2578608"/>
            <a:ext cx="12618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150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2980944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3108960"/>
            <a:ext cx="3730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10K bead NTC thermistors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2980944"/>
            <a:ext cx="1097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35424" y="3108960"/>
            <a:ext cx="9875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2980944"/>
            <a:ext cx="19202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32704" y="3108960"/>
            <a:ext cx="18105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Thermal sensing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2980944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3108960"/>
            <a:ext cx="12618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3511296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3639312"/>
            <a:ext cx="3730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Battery + TP4056 USB-C + regulator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60" y="3511296"/>
            <a:ext cx="1097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35424" y="3639312"/>
            <a:ext cx="9875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1 set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3511296"/>
            <a:ext cx="19202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32704" y="3639312"/>
            <a:ext cx="18105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Power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3511296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3639312"/>
            <a:ext cx="12618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481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4041648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" y="4169663"/>
            <a:ext cx="3730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Motor + driver + passives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4041648"/>
            <a:ext cx="1097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35424" y="4169663"/>
            <a:ext cx="9875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1 set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4041648"/>
            <a:ext cx="19202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32704" y="4169663"/>
            <a:ext cx="18105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Actuation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79" y="4041648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52944" y="4169663"/>
            <a:ext cx="12618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65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4572000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944" y="4700016"/>
            <a:ext cx="3730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F2731"/>
                </a:solidFill>
                <a:latin typeface="Aptos"/>
              </a:rPr>
              <a:t>Perfboard, headers, switch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0" y="4572000"/>
            <a:ext cx="1097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35424" y="4700016"/>
            <a:ext cx="9875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1 set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77840" y="4572000"/>
            <a:ext cx="19202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32704" y="4700016"/>
            <a:ext cx="18105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Prototype hardware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98079" y="4572000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4700016"/>
            <a:ext cx="12618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F2731"/>
                </a:solidFill>
                <a:latin typeface="Aptos"/>
              </a:rPr>
              <a:t>120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458200" y="914400"/>
            <a:ext cx="31089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458200" y="914400"/>
            <a:ext cx="73152" cy="1280160"/>
          </a:xfrm>
          <a:prstGeom prst="roundRect">
            <a:avLst/>
          </a:prstGeom>
          <a:solidFill>
            <a:srgbClr val="9C2D2D"/>
          </a:solidFill>
          <a:ln>
            <a:solidFill>
              <a:srgbClr val="9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22792" y="1024128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TOTAL PROTOTYPE EXPENDITURE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22792" y="1389888"/>
            <a:ext cx="2788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731"/>
                </a:solidFill>
                <a:latin typeface="Aptos"/>
              </a:rPr>
              <a:t>₹1,846</a:t>
            </a:r>
            <a:br/>
            <a:r>
              <a:t>Target ceiling: ₹2,500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458200" y="2468880"/>
            <a:ext cx="3108960" cy="3063240"/>
          </a:xfrm>
          <a:prstGeom prst="roundRect">
            <a:avLst/>
          </a:prstGeom>
          <a:solidFill>
            <a:srgbClr val="EEF3F7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41080" y="269748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9BA9B6"/>
                </a:solidFill>
                <a:latin typeface="Aptos"/>
              </a:rPr>
              <a:t>[INSERT IMAGE]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0" y="38176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2640"/>
                </a:solidFill>
                <a:latin typeface="Aptos"/>
              </a:rPr>
              <a:t>Procurement Bill / Invoice Photo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432054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44556"/>
                </a:solidFill>
                <a:latin typeface="Aptos"/>
              </a:rPr>
              <a:t>Insert itemized invoice or component purchase proof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02920" y="6126480"/>
            <a:ext cx="11155680" cy="320040"/>
          </a:xfrm>
          <a:prstGeom prst="roundRect">
            <a:avLst/>
          </a:prstGeom>
          <a:solidFill>
            <a:srgbClr val="FFF7EB"/>
          </a:solidFill>
          <a:ln>
            <a:solidFill>
              <a:srgbClr val="F2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8368" y="6190488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C4E30"/>
                </a:solidFill>
                <a:latin typeface="Aptos"/>
              </a:rPr>
              <a:t>Final BOM should distinguish purchased quantities from per-device cost and identify non-recurring development hardware.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63C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Current Project Status &amp; Milestone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EE"/>
                </a:solidFill>
                <a:latin typeface="Aptos"/>
              </a:rPr>
              <a:t>Review-1 completion and Review-2 delivery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5624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BA9B6"/>
                </a:solidFill>
                <a:latin typeface="Aptos"/>
              </a:rPr>
              <a:t>VEINGUARD •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BA9B6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914400"/>
            <a:ext cx="5394960" cy="502920"/>
          </a:xfrm>
          <a:prstGeom prst="roundRect">
            <a:avLst/>
          </a:prstGeom>
          <a:solidFill>
            <a:srgbClr val="122640"/>
          </a:solidFill>
          <a:ln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42415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COMPLETED — REVIEW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49377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t>• Biomechanical and clinical feasibility research completed.</a:t>
            </a:r>
          </a:p>
          <a:p>
            <a:pPr>
              <a:spcAft>
                <a:spcPts val="900"/>
              </a:spcAft>
            </a:pPr>
            <a:r>
              <a:t>• Core electronic modules and passive components procured and bench-verified.</a:t>
            </a:r>
          </a:p>
          <a:p>
            <a:pPr>
              <a:spcAft>
                <a:spcPts val="900"/>
              </a:spcAft>
            </a:pPr>
            <a:r>
              <a:t>• Breadboard assembly completed; I²C communication verified at 0x68 and 0x57.</a:t>
            </a:r>
          </a:p>
          <a:p>
            <a:pPr>
              <a:spcAft>
                <a:spcPts val="900"/>
              </a:spcAft>
            </a:pPr>
            <a:r>
              <a:t>• Firmware state-machine for posture detection developed and tested.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914400"/>
            <a:ext cx="5394960" cy="502920"/>
          </a:xfrm>
          <a:prstGeom prst="roundRect">
            <a:avLst/>
          </a:prstGeom>
          <a:solidFill>
            <a:srgbClr val="9C2D2D"/>
          </a:solidFill>
          <a:ln>
            <a:solidFill>
              <a:srgbClr val="9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042415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NEXT — REVIEW 2 &amp; FINAL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00200"/>
            <a:ext cx="502920" cy="50292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0992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18488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BLE GATT + Android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01952"/>
            <a:ext cx="4069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731"/>
                </a:solidFill>
                <a:latin typeface="Aptos"/>
              </a:rPr>
              <a:t>Finalize telemetry and emergency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14600"/>
            <a:ext cx="502920" cy="50292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2432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532888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28 mm hardware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816352"/>
            <a:ext cx="4069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731"/>
                </a:solidFill>
                <a:latin typeface="Aptos"/>
              </a:rPr>
              <a:t>Solder circuit with integrated power switch.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429000"/>
            <a:ext cx="502920" cy="50292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3872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447288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PETG enclosure + strap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730752"/>
            <a:ext cx="4069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731"/>
                </a:solidFill>
                <a:latin typeface="Aptos"/>
              </a:rPr>
              <a:t>3D-print charm pod and integrate anklet.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43400"/>
            <a:ext cx="502920" cy="502920"/>
          </a:xfrm>
          <a:prstGeom prst="roundRect">
            <a:avLst/>
          </a:prstGeom>
          <a:solidFill>
            <a:srgbClr val="B8663C"/>
          </a:solidFill>
          <a:ln>
            <a:solidFill>
              <a:srgbClr val="B86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45312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361688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640"/>
                </a:solidFill>
                <a:latin typeface="Aptos"/>
              </a:rPr>
              <a:t>Human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645152"/>
            <a:ext cx="4069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731"/>
                </a:solidFill>
                <a:latin typeface="Aptos"/>
              </a:rPr>
              <a:t>Measure posture-transition accuracy and rep counting.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32120"/>
            <a:ext cx="11064240" cy="530352"/>
          </a:xfrm>
          <a:prstGeom prst="roundRect">
            <a:avLst/>
          </a:prstGeom>
          <a:solidFill>
            <a:srgbClr val="E7EEF4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5156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2640"/>
                </a:solidFill>
                <a:latin typeface="Aptos"/>
              </a:rPr>
              <a:t>Review-2 success criterion: integrated wearable prototype + validated posture pipeline + demonstrable emergency dispatch 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6126480"/>
            <a:ext cx="11155680" cy="320040"/>
          </a:xfrm>
          <a:prstGeom prst="roundRect">
            <a:avLst/>
          </a:prstGeom>
          <a:solidFill>
            <a:srgbClr val="FFF7EB"/>
          </a:solidFill>
          <a:ln>
            <a:solidFill>
              <a:srgbClr val="F2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190488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C4E30"/>
                </a:solidFill>
                <a:latin typeface="Aptos"/>
              </a:rPr>
              <a:t>Human testing should follow institutional approval/consent requirements and the device should not be represented as a medical diagnostic product without appropriate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