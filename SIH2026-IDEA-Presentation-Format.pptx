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pyrosat-intelligence.onrender.com" TargetMode="External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hyperlink" Target="https://firms.modaps.eosdis.nasa.gov/" TargetMode="External"/><Relationship Id="rId10" Type="http://schemas.openxmlformats.org/officeDocument/2006/relationships/hyperlink" Target="https://doi.org/10.1016/0034-4257(81)90021-3" TargetMode="External"/><Relationship Id="rId11" Type="http://schemas.openxmlformats.org/officeDocument/2006/relationships/hyperlink" Target="https://esa-worldcover.org/" TargetMode="External"/><Relationship Id="rId12" Type="http://schemas.openxmlformats.org/officeDocument/2006/relationships/hyperlink" Target="https://globalenergymonitor.org/" TargetMode="External"/><Relationship Id="rId13" Type="http://schemas.openxmlformats.org/officeDocument/2006/relationships/hyperlink" Target="https://cameochemicals.noaa.gov/" TargetMode="External"/><Relationship Id="rId14" Type="http://schemas.openxmlformats.org/officeDocument/2006/relationships/hyperlink" Target="https://www.epa.gov/scram/air-quality-dispersion-modeling" TargetMode="External"/><Relationship Id="rId15" Type="http://schemas.openxmlformats.org/officeDocument/2006/relationships/hyperlink" Target="https://www.phmsa.dot.gov/er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Thinkers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91440"/>
            <a:ext cx="8046720" cy="9326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PyroSat: AI-Powered Satellite Thermal Intelligence</a:t>
            </a:r>
          </a:p>
          <a:p>
            <a:pPr algn="ctr">
              <a:defRPr sz="950" b="1">
                <a:solidFill>
                  <a:srgbClr val="475569"/>
                </a:solidFill>
                <a:latin typeface="Arial"/>
              </a:defRPr>
            </a:pPr>
            <a:r>
              <a:t>Precision Sub-Pixel Pyrometry, Industrial Fire Segregation &amp; Real-Time Toxic Plume Defense for India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078992"/>
            <a:ext cx="11484864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" y="1170432"/>
            <a:ext cx="3474720" cy="10789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243584"/>
            <a:ext cx="3255264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Real-World Issue:</a:t>
            </a:r>
          </a:p>
          <a:p>
            <a:pPr>
              <a:defRPr sz="780">
                <a:solidFill>
                  <a:srgbClr val="F8FAFC"/>
                </a:solidFill>
                <a:latin typeface="Arial"/>
              </a:defRPr>
            </a:pPr>
            <a:r>
              <a:t>Coarse 375m satellite thermal pixels cannot distinguish routine industrial flaring from runaway refinery explosions or crop stubble, causing severe operational blindness.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359152"/>
            <a:ext cx="3474720" cy="10789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32304"/>
            <a:ext cx="3255264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Why Important:</a:t>
            </a:r>
          </a:p>
          <a:p>
            <a:pPr>
              <a:defRPr sz="780">
                <a:solidFill>
                  <a:srgbClr val="F8FAFC"/>
                </a:solidFill>
                <a:latin typeface="Arial"/>
              </a:defRPr>
            </a:pPr>
            <a:r>
              <a:t>India houses 2,000+ hazardous petrochemical and industrial facilities near dense populations. Delayed hazard response risks thousands of lives and ₹10,000+ Cr in critical assets.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3547872"/>
            <a:ext cx="34747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21024"/>
            <a:ext cx="3255264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Proposed Solution:</a:t>
            </a:r>
          </a:p>
          <a:p>
            <a:pPr>
              <a:defRPr sz="780">
                <a:solidFill>
                  <a:srgbClr val="F8FAFC"/>
                </a:solidFill>
                <a:latin typeface="Arial"/>
              </a:defRPr>
            </a:pPr>
            <a:r>
              <a:t>PyroSat solves sub-pixel flame temperature (Tf &gt; 1100 K) and burning area via Planck pyrometry, eliminates false alarms using 10m ESA ground truth, and projects live 3D evacuation zones.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" y="4800600"/>
            <a:ext cx="3474720" cy="13716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873752"/>
            <a:ext cx="3218688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369A1"/>
                </a:solidFill>
                <a:latin typeface="Arial"/>
              </a:defRPr>
            </a:pPr>
            <a:r>
              <a:t>⚡ Working Prototype &amp; Demonstrations:</a:t>
            </a:r>
          </a:p>
          <a:p>
            <a:pPr>
              <a:spcAft>
                <a:spcPts val="300"/>
              </a:spcAft>
            </a:pPr>
            <a:r>
              <a:rPr sz="780" b="1" u="sng">
                <a:solidFill>
                  <a:srgbClr val="0284C7"/>
                </a:solidFill>
                <a:latin typeface="Arial"/>
                <a:hlinkClick r:id="rId4"/>
              </a:rPr>
              <a:t>🔗 Live Cloud Platform: pyrosat-intelligence.onrender.com</a:t>
            </a:r>
          </a:p>
          <a:p>
            <a:r>
              <a:rPr sz="750">
                <a:solidFill>
                  <a:srgbClr val="475569"/>
                </a:solidFill>
                <a:latin typeface="Arial"/>
              </a:rPr>
              <a:t>🔗 Technical Defense &amp; Benchmark Replay: GROUND_TRUTH_DEFENSE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1115568"/>
            <a:ext cx="4160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00" b="1">
                <a:solidFill>
                  <a:srgbClr val="1E3A8A"/>
                </a:solidFill>
                <a:latin typeface="Arial"/>
              </a:defRPr>
            </a:pPr>
            <a:r>
              <a:t>CORE ARCHITECTURE: ORBITAL-TO-GROUND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05072" y="1389888"/>
            <a:ext cx="416052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78224" y="1481328"/>
            <a:ext cx="77724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8FAFC"/>
                </a:solidFill>
                <a:latin typeface="Arial"/>
              </a:defRPr>
            </a:pPr>
            <a:r>
              <a:t>LAYER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463040"/>
            <a:ext cx="31363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Spaceborne Telemetry Ingestion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1376" y="1773936"/>
            <a:ext cx="386791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334155"/>
                </a:solidFill>
                <a:latin typeface="Arial"/>
              </a:defRPr>
            </a:pPr>
            <a:r>
              <a:t>• NASA VIIRS (375m) &amp; MODIS 1km NRT thermal radiance ingestion.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• Active LEO blind-window gap fill &amp; continuous pass monitoring.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93892" y="2450592"/>
            <a:ext cx="182880" cy="11887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05072" y="2578608"/>
            <a:ext cx="4160520" cy="10515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78224" y="2670048"/>
            <a:ext cx="777240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8FAFC"/>
                </a:solidFill>
                <a:latin typeface="Arial"/>
              </a:defRPr>
            </a:pPr>
            <a:r>
              <a:t>LAYER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2651760"/>
            <a:ext cx="31363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Sub-Pixel Infrared Planck Pyrometry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51376" y="2962656"/>
            <a:ext cx="386791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334155"/>
                </a:solidFill>
                <a:latin typeface="Arial"/>
              </a:defRPr>
            </a:pPr>
            <a:r>
              <a:t>• Dual-Band Inversion: Solves flame temp (Tf &gt; 1100 K) &amp; burning area (Af).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• Eliminates pixel-smearing: extracts pinpoint fires from cold background.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993892" y="3639312"/>
            <a:ext cx="182880" cy="11887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05072" y="3767328"/>
            <a:ext cx="4160520" cy="1051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78224" y="3858768"/>
            <a:ext cx="777240" cy="23774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8FAFC"/>
                </a:solidFill>
                <a:latin typeface="Arial"/>
              </a:defRPr>
            </a:pPr>
            <a:r>
              <a:t>LAYER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840480"/>
            <a:ext cx="31363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2-Stage Hierarchical ML + 10m Ground Truth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1376" y="4151376"/>
            <a:ext cx="386791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334155"/>
                </a:solidFill>
                <a:latin typeface="Arial"/>
              </a:defRPr>
            </a:pPr>
            <a:r>
              <a:t>• TreeSHAP-verified AI segregates permitted flaring vs explosions.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• Sentinel-1/2 10m ESA WorldCover validates Built-up (Class 50) vs crops.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993892" y="4828032"/>
            <a:ext cx="182880" cy="11887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05072" y="4956048"/>
            <a:ext cx="4160520" cy="10515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78224" y="5047488"/>
            <a:ext cx="777240" cy="23774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8FAFC"/>
                </a:solidFill>
                <a:latin typeface="Arial"/>
              </a:defRPr>
            </a:pPr>
            <a:r>
              <a:t>LAYER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029200"/>
            <a:ext cx="31363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Atmospheric Plume &amp; NDRF Tactical Dispatch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51376" y="5340096"/>
            <a:ext cx="386791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334155"/>
                </a:solidFill>
                <a:latin typeface="Arial"/>
              </a:defRPr>
            </a:pPr>
            <a:r>
              <a:t>• Briggs buoyant rise + Pasquill-Gifford Gaussian dispersion on live wind.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• Instant Incident Action Plan (IAP) with automated WhatsApp/SMS dispatch.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1115568"/>
            <a:ext cx="3474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00" b="1">
                <a:solidFill>
                  <a:srgbClr val="991B1B"/>
                </a:solidFill>
                <a:latin typeface="Arial"/>
              </a:defRPr>
            </a:pPr>
            <a:r>
              <a:t>CRITICAL RISK   vs   PYROSAT SOLUTION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48472" y="1389888"/>
            <a:ext cx="1572768" cy="62179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750" b="1">
                <a:solidFill>
                  <a:srgbClr val="B91C1C"/>
                </a:solidFill>
                <a:latin typeface="Arial"/>
              </a:defRPr>
            </a:pPr>
            <a:r>
              <a:t>🔴 Coarse 375m Satellite Pixels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1536192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50424" y="1389888"/>
            <a:ext cx="1572768" cy="6217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750" b="1">
                <a:solidFill>
                  <a:srgbClr val="15803D"/>
                </a:solidFill>
                <a:latin typeface="Arial"/>
              </a:defRPr>
            </a:pPr>
            <a:r>
              <a:t>🟢 Sub-Pixel Planck Pyrometry (Tf, Af)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48472" y="2121408"/>
            <a:ext cx="1572768" cy="62179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750" b="1">
                <a:solidFill>
                  <a:srgbClr val="B91C1C"/>
                </a:solidFill>
                <a:latin typeface="Arial"/>
              </a:defRPr>
            </a:pPr>
            <a:r>
              <a:t>🔴 Routine Flares Mistaken as Fires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2267712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50424" y="2121408"/>
            <a:ext cx="1572768" cy="6217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750" b="1">
                <a:solidFill>
                  <a:srgbClr val="15803D"/>
                </a:solidFill>
                <a:latin typeface="Arial"/>
              </a:defRPr>
            </a:pPr>
            <a:r>
              <a:t>🟢 2-Stage Hierarchical ML Shield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48472" y="2852928"/>
            <a:ext cx="1572768" cy="62179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750" b="1">
                <a:solidFill>
                  <a:srgbClr val="B91C1C"/>
                </a:solidFill>
                <a:latin typeface="Arial"/>
              </a:defRPr>
            </a:pPr>
            <a:r>
              <a:t>🔴 Blind Toxic Gas Cloud Inhalation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2999232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50424" y="2852928"/>
            <a:ext cx="1572768" cy="6217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750" b="1">
                <a:solidFill>
                  <a:srgbClr val="15803D"/>
                </a:solidFill>
                <a:latin typeface="Arial"/>
              </a:defRPr>
            </a:pPr>
            <a:r>
              <a:t>🟢 3D Gaussian Plume Standoff Rings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48472" y="3584448"/>
            <a:ext cx="1572768" cy="62179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750" b="1">
                <a:solidFill>
                  <a:srgbClr val="B91C1C"/>
                </a:solidFill>
                <a:latin typeface="Arial"/>
              </a:defRPr>
            </a:pPr>
            <a:r>
              <a:t>🔴 Delayed Multi-Agency Dispatch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3730752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50424" y="3584448"/>
            <a:ext cx="1572768" cy="6217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750" b="1">
                <a:solidFill>
                  <a:srgbClr val="15803D"/>
                </a:solidFill>
                <a:latin typeface="Arial"/>
              </a:defRPr>
            </a:pPr>
            <a:r>
              <a:t>🟢 1-Click Automated NDRF Action Plan</a:t>
            </a:r>
          </a:p>
        </p:txBody>
      </p:sp>
      <p:pic>
        <p:nvPicPr>
          <p:cNvPr id="55" name="Picture 5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4352544"/>
            <a:ext cx="1554480" cy="16916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994392" y="4352544"/>
            <a:ext cx="18288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Tactical Validation: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Real-time 3D Gaussian toxic plume calculated using live Open-Meteo wind vectors with automated ERPG/IDLH evacuation rings.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914400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Thinkers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291840" y="1115568"/>
            <a:ext cx="13716" cy="4983480"/>
          </a:xfrm>
          <a:prstGeom prst="rect">
            <a:avLst/>
          </a:prstGeom>
          <a:solidFill>
            <a:srgbClr val="BE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291840" y="4160520"/>
            <a:ext cx="8622792" cy="13716"/>
          </a:xfrm>
          <a:prstGeom prst="rect">
            <a:avLst/>
          </a:prstGeom>
          <a:solidFill>
            <a:srgbClr val="BE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20040" y="1133856"/>
            <a:ext cx="29260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Hardware &amp; Software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NASA FIRMS Telemetry:</a:t>
            </a:r>
            <a:r>
              <a:rPr sz="850">
                <a:solidFill>
                  <a:srgbClr val="232323"/>
                </a:solidFill>
                <a:latin typeface="Arial"/>
              </a:rPr>
              <a:t> VIIRS (375m) &amp; MODIS (1km) dual-band NRT infrared radiance.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Sentinel-2 &amp; ESA LULC:</a:t>
            </a:r>
            <a:r>
              <a:rPr sz="850">
                <a:solidFill>
                  <a:srgbClr val="232323"/>
                </a:solidFill>
                <a:latin typeface="Arial"/>
              </a:rPr>
              <a:t> 10m land-cover &amp; Level-2A surface reflectance (NDVI/SWIR).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SciPy (Planck Pyrometry):</a:t>
            </a:r>
            <a:r>
              <a:rPr sz="850">
                <a:solidFill>
                  <a:srgbClr val="232323"/>
                </a:solidFill>
                <a:latin typeface="Arial"/>
              </a:rPr>
              <a:t> Dual-band Dozier inversion solving flame temp &amp; area.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LightGBM &amp; TreeSHAP:</a:t>
            </a:r>
            <a:r>
              <a:rPr sz="850">
                <a:solidFill>
                  <a:srgbClr val="232323"/>
                </a:solidFill>
                <a:latin typeface="Arial"/>
              </a:rPr>
              <a:t> 2-stage hierarchical ML classifier with exact local Shapley XAI.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CesiumJS (WebGL 3D):</a:t>
            </a:r>
            <a:r>
              <a:rPr sz="850">
                <a:solidFill>
                  <a:srgbClr val="232323"/>
                </a:solidFill>
                <a:latin typeface="Arial"/>
              </a:rPr>
              <a:t> Virtual 3D globe rendering terrain, 3D tiles &amp; hazard layers.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Open-Meteo &amp; Plume Model:</a:t>
            </a:r>
            <a:r>
              <a:rPr sz="850">
                <a:solidFill>
                  <a:srgbClr val="232323"/>
                </a:solidFill>
                <a:latin typeface="Arial"/>
              </a:rPr>
              <a:t> Pasquill-Gifford dispersion with live wind vectors.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FastAPI &amp; Node.js Gateway:</a:t>
            </a:r>
            <a:r>
              <a:rPr sz="850">
                <a:solidFill>
                  <a:srgbClr val="232323"/>
                </a:solidFill>
                <a:latin typeface="Arial"/>
              </a:rPr>
              <a:t> Sub-second REST inference API &amp; SSE real-time alerting.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PostGIS Spatial Database:</a:t>
            </a:r>
            <a:r>
              <a:rPr sz="850">
                <a:solidFill>
                  <a:srgbClr val="232323"/>
                </a:solidFill>
                <a:latin typeface="Arial"/>
              </a:rPr>
              <a:t> Industrial infrastructure &amp; boundary threat engine.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74720" y="1133856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 u="sng">
                <a:solidFill>
                  <a:srgbClr val="2B5B84"/>
                </a:solidFill>
                <a:latin typeface="Arial"/>
              </a:defRPr>
            </a:pPr>
            <a:r>
              <a:t>FLOW CHART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474720" y="1463040"/>
            <a:ext cx="8321040" cy="25603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br/>
            <a:r>
              <a:t>[ INSERT SYSTEM ARCHITECTURE / INGESTION-TO-DISPATCH FLOWCHART IMAGE HERE ]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(NASA FIRMS ➔ Dozier Planck Inversion ➔ 2-Stage ML Classifier ➔ TreeSHAP ➔ Gaussian Plume ➔ IAP Dispatch)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474720" y="4224528"/>
            <a:ext cx="3200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 u="sng">
                <a:solidFill>
                  <a:srgbClr val="2B5B84"/>
                </a:solidFill>
                <a:latin typeface="Arial"/>
              </a:defRPr>
            </a:pPr>
            <a:r>
              <a:t>3 LAYER APPROACH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474720" y="4526280"/>
            <a:ext cx="3566160" cy="15544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br/>
            <a:r>
              <a:t>[ INSERT 3-LAYER ARCHITECTURE MOCKUP ]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L1: Sensing ➔ L2: Physics/ML ➔ L3: Dispatch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7223760" y="4343400"/>
            <a:ext cx="4572000" cy="1737360"/>
          </a:xfrm>
          <a:prstGeom prst="rect">
            <a:avLst/>
          </a:prstGeom>
          <a:solidFill>
            <a:srgbClr val="E1EE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GitHub link: </a:t>
            </a:r>
            <a:r>
              <a:rPr sz="1050" u="sng">
                <a:solidFill>
                  <a:srgbClr val="1D4ED8"/>
                </a:solidFill>
                <a:latin typeface="Arial"/>
              </a:rPr>
              <a:t>https://github.com/Narayana1729/SIH2026.git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Live Dashboard: </a:t>
            </a:r>
            <a:r>
              <a:rPr sz="1000">
                <a:solidFill>
                  <a:srgbClr val="2B5B84"/>
                </a:solidFill>
                <a:latin typeface="Arial"/>
              </a:rPr>
              <a:t>http://localhost:8080 (Cesium 3D WebGL HUD)</a:t>
            </a:r>
          </a:p>
          <a:p>
            <a:r>
              <a:rPr sz="1250" b="1">
                <a:solidFill>
                  <a:srgbClr val="DC2626"/>
                </a:solidFill>
                <a:latin typeface="Arial"/>
              </a:rPr>
              <a:t>Above 80% of the prototype is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914400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Thinkers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5440680" y="1115568"/>
            <a:ext cx="13716" cy="4983480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256032" y="3566160"/>
            <a:ext cx="5184648" cy="13716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133856"/>
            <a:ext cx="4983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Feasibility Analysis: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Open-Data Architecture: </a:t>
            </a:r>
            <a:r>
              <a:rPr sz="950">
                <a:solidFill>
                  <a:srgbClr val="1E1E1E"/>
                </a:solidFill>
                <a:latin typeface="Arial"/>
              </a:rPr>
              <a:t>Zero dependence on costly commercial tasking; runs entirely on free, open NASA FIRMS, ESA Copernicus, and Open-Meteo feeds.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Tested Operational Prototype: </a:t>
            </a:r>
            <a:r>
              <a:rPr sz="950">
                <a:solidFill>
                  <a:srgbClr val="1E1E1E"/>
                </a:solidFill>
                <a:latin typeface="Arial"/>
              </a:rPr>
              <a:t>Full-stack system already implemented with 130 passing automated tests covering pyrometry, ML inference, and 3D UI rendering.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Low Hardware Footprint: </a:t>
            </a:r>
            <a:r>
              <a:rPr sz="950">
                <a:solidFill>
                  <a:srgbClr val="1E1E1E"/>
                </a:solidFill>
                <a:latin typeface="Arial"/>
              </a:rPr>
              <a:t>Efficient TreeSHAP DP and Dozier solvers run in sub-second inference on standard edge or cloud servers.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7472" y="3657600"/>
            <a:ext cx="4983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Potential Challenges &amp; Risks: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Cloud &amp; Monsoon Obscuration: </a:t>
            </a:r>
            <a:r>
              <a:rPr sz="950">
                <a:solidFill>
                  <a:srgbClr val="1E1E1E"/>
                </a:solidFill>
                <a:latin typeface="Arial"/>
              </a:rPr>
              <a:t>Dense cloud cover attenuates thermal infrared emissions from orbit.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Orbital Revisit Latencies: </a:t>
            </a:r>
            <a:r>
              <a:rPr sz="950">
                <a:solidFill>
                  <a:srgbClr val="1E1E1E"/>
                </a:solidFill>
                <a:latin typeface="Arial"/>
              </a:rPr>
              <a:t>Sun-synchronous satellite passes leave gaps of 3-6 hours between revisits.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Reflective Solar Glint: </a:t>
            </a:r>
            <a:r>
              <a:rPr sz="950">
                <a:solidFill>
                  <a:srgbClr val="1E1E1E"/>
                </a:solidFill>
                <a:latin typeface="Arial"/>
              </a:rPr>
              <a:t>Highly reflective metal industrial roofs can mimic daytime thermal hotspots.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623560" y="1133856"/>
            <a:ext cx="6217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Strategies for Overcoming Challenges: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Multi-Constellation Satellite Fusion: </a:t>
            </a:r>
            <a:r>
              <a:rPr sz="950">
                <a:solidFill>
                  <a:srgbClr val="1E1E1E"/>
                </a:solidFill>
                <a:latin typeface="Arial"/>
              </a:rPr>
              <a:t>Combines VIIRS NOAA-20, NOAA-21, Suomi-NPP, and MODIS Aqua/Terra across complementary orbital nodes, reducing revisit latency.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Sentinel-2 Scene Classification (SCL): </a:t>
            </a:r>
            <a:r>
              <a:rPr sz="950">
                <a:solidFill>
                  <a:srgbClr val="1E1E1E"/>
                </a:solidFill>
                <a:latin typeface="Arial"/>
              </a:rPr>
              <a:t>Integrates cloud probability and cirrus masks to quarantine obstructed pixels without generating false-negative alerts.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90-Day Spatio-Temporal Persistence Memory: </a:t>
            </a:r>
            <a:r>
              <a:rPr sz="950">
                <a:solidFill>
                  <a:srgbClr val="1E1E1E"/>
                </a:solidFill>
                <a:latin typeface="Arial"/>
              </a:rPr>
              <a:t>Maintains historical heat baselines at known facilities, filtering out static solar glint while instantly flagging genuine flaring surges.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Multi-Band Invariant Ratio Verification: </a:t>
            </a:r>
            <a:r>
              <a:rPr sz="950">
                <a:solidFill>
                  <a:srgbClr val="1E1E1E"/>
                </a:solidFill>
                <a:latin typeface="Arial"/>
              </a:rPr>
              <a:t>Uses MWIR/LWIR radiance ratios and night-pass observations to reject non-combustion thermal reflections.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914400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Thinkers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5440680" y="1115568"/>
            <a:ext cx="13716" cy="4983480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256032" y="3566160"/>
            <a:ext cx="5184648" cy="13716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133856"/>
            <a:ext cx="4983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Target Audience &amp; Stakeholders: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Disaster Management Authorities: </a:t>
            </a:r>
            <a:r>
              <a:rPr sz="950">
                <a:solidFill>
                  <a:srgbClr val="1E1E1E"/>
                </a:solidFill>
                <a:latin typeface="Arial"/>
              </a:rPr>
              <a:t>National &amp; State Disaster Authorities (NDMA, SDMA, NDRF battalions).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Environmental &amp; Safety Regulators: </a:t>
            </a:r>
            <a:r>
              <a:rPr sz="950">
                <a:solidFill>
                  <a:srgbClr val="1E1E1E"/>
                </a:solidFill>
                <a:latin typeface="Arial"/>
              </a:rPr>
              <a:t>Central &amp; State Pollution Control Boards (CPCB, SPCB, PESO).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Industrial Facility Operators: </a:t>
            </a:r>
            <a:r>
              <a:rPr sz="950">
                <a:solidFill>
                  <a:srgbClr val="1E1E1E"/>
                </a:solidFill>
                <a:latin typeface="Arial"/>
              </a:rPr>
              <a:t>Safety Operations Centers at refineries, chemical hubs, and steel plants.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Forest &amp; Wilderness Services: </a:t>
            </a:r>
            <a:r>
              <a:rPr sz="950">
                <a:solidFill>
                  <a:srgbClr val="1E1E1E"/>
                </a:solidFill>
                <a:latin typeface="Arial"/>
              </a:rPr>
              <a:t>Forest Protection Divisions guarding national parks and biosphere reserves.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7472" y="3657600"/>
            <a:ext cx="4983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Social &amp; Economic Benefits: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Life Safety in Toxic Corridors: </a:t>
            </a:r>
            <a:r>
              <a:rPr sz="950">
                <a:solidFill>
                  <a:srgbClr val="1E1E1E"/>
                </a:solidFill>
                <a:latin typeface="Arial"/>
              </a:rPr>
              <a:t>Proactive evacuation isopleths protect civilian settlements downwind of chemical disasters.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Asset &amp; Infrastructure Protection: </a:t>
            </a:r>
            <a:r>
              <a:rPr sz="950">
                <a:solidFill>
                  <a:srgbClr val="1E1E1E"/>
                </a:solidFill>
                <a:latin typeface="Arial"/>
              </a:rPr>
              <a:t>Detects abnormal flare blowouts before uncontained catastrophic refinery explosions occur.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Slashes False Alarm Overhead: </a:t>
            </a:r>
            <a:r>
              <a:rPr sz="950">
                <a:solidFill>
                  <a:srgbClr val="1E1E1E"/>
                </a:solidFill>
                <a:latin typeface="Arial"/>
              </a:rPr>
              <a:t>Eliminates wasteful emergency mobilization caused by routine flaring misidentifications.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623560" y="1133856"/>
            <a:ext cx="6217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Environmental &amp; Governance Benefits: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Industrial Emissions Compliance Auditing: </a:t>
            </a:r>
            <a:r>
              <a:rPr sz="950">
                <a:solidFill>
                  <a:srgbClr val="1E1E1E"/>
                </a:solidFill>
                <a:latin typeface="Arial"/>
              </a:rPr>
              <a:t>Provides empirical, continuous satellite monitoring of permitted vs. illegal flaring and fugitive emissions across India's industrial belts.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Forest Boundary Encroachment Warning: </a:t>
            </a:r>
            <a:r>
              <a:rPr sz="950">
                <a:solidFill>
                  <a:srgbClr val="1E1E1E"/>
                </a:solidFill>
                <a:latin typeface="Arial"/>
              </a:rPr>
              <a:t>Geodesic buffer engine computes real-time threat distance to protected wilderness reserves, stopping wildfires before boundary penetration.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Data-Driven Emergency Governance: </a:t>
            </a:r>
            <a:r>
              <a:rPr sz="950">
                <a:solidFill>
                  <a:srgbClr val="1E1E1E"/>
                </a:solidFill>
                <a:latin typeface="Arial"/>
              </a:rPr>
              <a:t>Standardizes emergency response with automated Incident Action Plans (IAPs), HazMat UN placards, and immediate responder coordination.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Climate &amp; Methane Mitigation: </a:t>
            </a:r>
            <a:r>
              <a:rPr sz="950">
                <a:solidFill>
                  <a:srgbClr val="1E1E1E"/>
                </a:solidFill>
                <a:latin typeface="Arial"/>
              </a:rPr>
              <a:t>Quantifies high-temperature industrial combustion volumes to support national carbon accounting and fugitive methane reduction targets.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 descr="pyrosat_slide6_references_fil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109728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353312"/>
            <a:ext cx="11484864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912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9"/>
              </a:rPr>
              <a:t>NASA FIRMS
</a:t>
            </a:r>
            <a:r>
              <a:rPr sz="950" b="1" u="sng">
                <a:solidFill>
                  <a:srgbClr val="0E4BA0"/>
                </a:solidFill>
                <a:latin typeface="Arial"/>
                <a:hlinkClick r:id="rId9"/>
              </a:rPr>
              <a:t>Telemetry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NRT Thermal Hotspot Ingestion — VIIRS 375m &amp; MODIS 1km active fire feeds.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9606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0"/>
              </a:rPr>
              <a:t>Dozier Pyrometry
</a:t>
            </a:r>
            <a:r>
              <a:rPr sz="950" b="1" u="sng">
                <a:solidFill>
                  <a:srgbClr val="0E4BA0"/>
                </a:solidFill>
                <a:latin typeface="Arial"/>
                <a:hlinkClick r:id="rId10"/>
              </a:rPr>
              <a:t>(1981)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Sub-Pixel Planck Inversion — Resolves flame temp (Tf &gt; 1100 K) &amp; sub-pixel area (Af).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0301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1"/>
              </a:rPr>
              <a:t>ESA WorldCover
</a:t>
            </a:r>
            <a:r>
              <a:rPr sz="950" b="1" u="sng">
                <a:solidFill>
                  <a:srgbClr val="0E4BA0"/>
                </a:solidFill>
                <a:latin typeface="Arial"/>
                <a:hlinkClick r:id="rId11"/>
              </a:rPr>
              <a:t>10m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10m Surface Ground Truth — Sentinel-1/2 LULC classifying Built-up (Class 50) vs Cropland.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0996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2"/>
              </a:rPr>
              <a:t>GEM &amp; World Bank
</a:t>
            </a:r>
            <a:r>
              <a:rPr sz="950" b="1" u="sng">
                <a:solidFill>
                  <a:srgbClr val="0E4BA0"/>
                </a:solidFill>
                <a:latin typeface="Arial"/>
                <a:hlinkClick r:id="rId12"/>
              </a:rPr>
              <a:t>GGFR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2,000+ Facility Registry — Catalog of Indian refineries, petrochemical hubs &amp; flaring stacks.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1691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3"/>
              </a:rPr>
              <a:t>NOAA CAMEO &amp;
</a:t>
            </a:r>
            <a:r>
              <a:rPr sz="950" b="1" u="sng">
                <a:solidFill>
                  <a:srgbClr val="0E4BA0"/>
                </a:solidFill>
                <a:latin typeface="Arial"/>
                <a:hlinkClick r:id="rId13"/>
              </a:rPr>
              <a:t>NIOSH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Chemical &amp; HazMat Profiles — Reactivity data, UN placards &amp; toxic thresholds.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2386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4"/>
              </a:rPr>
              <a:t>EPA / Briggs
</a:t>
            </a:r>
            <a:r>
              <a:rPr sz="950" b="1" u="sng">
                <a:solidFill>
                  <a:srgbClr val="0E4BA0"/>
                </a:solidFill>
                <a:latin typeface="Arial"/>
                <a:hlinkClick r:id="rId14"/>
              </a:rPr>
              <a:t>Plume Rise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Atmospheric Dispersion — Buoyant plume rise &amp; Pasquill-Gifford Gaussian dispersion.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3081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5"/>
              </a:rPr>
              <a:t>NDRF &amp; HazMat
</a:t>
            </a:r>
            <a:r>
              <a:rPr sz="950" b="1" u="sng">
                <a:solidFill>
                  <a:srgbClr val="0E4BA0"/>
                </a:solidFill>
                <a:latin typeface="Arial"/>
                <a:hlinkClick r:id="rId15"/>
              </a:rPr>
              <a:t>ERG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Tactical Standoff &amp; Routing — Emergency chemical standoff, isolation corridors &amp; automated dispatch.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401568"/>
            <a:ext cx="102412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3218688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94A3B8"/>
                </a:solidFill>
                <a:latin typeface="Arial"/>
              </a:defRPr>
            </a:pPr>
            <a:r>
              <a:t>UI/UX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547872"/>
            <a:ext cx="3621024" cy="21488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7472" y="5751576"/>
            <a:ext cx="3621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  <a:latin typeface="Arial"/>
              </a:defRPr>
            </a:pPr>
            <a:r>
              <a:t>3D Geospatial HUD (Cesium WebGL)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Real-time thermal clustering across Indian industrial corridors.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5347995472" y="3547872"/>
            <a:ext cx="3621024" cy="2148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95347995472" y="5751576"/>
            <a:ext cx="3621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3D Toxic Plume &amp; Evacuation Rings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Atmospheric dispersion driven by live Open-Meteo wind vectors.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0695643472" y="3547872"/>
            <a:ext cx="3621024" cy="2148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90695643472" y="5751576"/>
            <a:ext cx="3621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97706"/>
                </a:solidFill>
                <a:latin typeface="Arial"/>
              </a:defRPr>
            </a:pPr>
            <a:r>
              <a:t>CAMEO HazMat Dossier &amp; NDRF Dispatch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Automated Incident Action Plan with SMS/WhatsApp responder routing.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