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pyrosat-intelligence.onrender.com" TargetMode="External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9" Type="http://schemas.openxmlformats.org/officeDocument/2006/relationships/hyperlink" Target="https://firms.modaps.eosdis.nasa.gov/" TargetMode="External"/><Relationship Id="rId10" Type="http://schemas.openxmlformats.org/officeDocument/2006/relationships/hyperlink" Target="https://doi.org/10.1016/0034-4257(81)90021-3" TargetMode="External"/><Relationship Id="rId11" Type="http://schemas.openxmlformats.org/officeDocument/2006/relationships/hyperlink" Target="https://esa-worldcover.org/" TargetMode="External"/><Relationship Id="rId12" Type="http://schemas.openxmlformats.org/officeDocument/2006/relationships/hyperlink" Target="https://globalenergymonitor.org/" TargetMode="External"/><Relationship Id="rId13" Type="http://schemas.openxmlformats.org/officeDocument/2006/relationships/hyperlink" Target="https://cameochemicals.noaa.gov/" TargetMode="External"/><Relationship Id="rId14" Type="http://schemas.openxmlformats.org/officeDocument/2006/relationships/hyperlink" Target="https://www.epa.gov/scram/air-quality-dispersion-modeling" TargetMode="External"/><Relationship Id="rId15" Type="http://schemas.openxmlformats.org/officeDocument/2006/relationships/hyperlink" Target="https://www.phmsa.dot.gov/er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45920" y="91440"/>
            <a:ext cx="8046720" cy="9326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PyroSat: AI-Powered Satellite Thermal Intelligence</a:t>
            </a:r>
          </a:p>
          <a:p>
            <a:pPr algn="ctr">
              <a:defRPr sz="950" b="1">
                <a:solidFill>
                  <a:srgbClr val="475569"/>
                </a:solidFill>
                <a:latin typeface="Arial"/>
              </a:defRPr>
            </a:pPr>
            <a:r>
              <a:t>Precision Sub-Pixel Pyrometry, Industrial Fire Segregation &amp; Real-Time Toxic Plume Defense for India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078992"/>
            <a:ext cx="11484864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" y="1152144"/>
            <a:ext cx="3364992" cy="106070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225296"/>
            <a:ext cx="314553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Real-World Issue: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Coarse 375m satellite thermal pixels cannot distinguish routine industrial flaring from runaway chemical explosions or crop stubble, causing severe operational blindness.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2313432"/>
            <a:ext cx="3364992" cy="106070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386584"/>
            <a:ext cx="314553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Why Important: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India houses 2,000+ Major Accident Hazard (MAH) chemical plants near dense cities. Delayed alerts risk thousands of lives and ₹10,000+ Cr in damages annually.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" y="3474720"/>
            <a:ext cx="3364992" cy="111556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547872"/>
            <a:ext cx="3145536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Proposed Solution: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PyroSat calculates exact sub-pixel flame temperature (Tf &gt; 1100 K) via Planck pyrometry, eliminates false alarms with 10m ESA ground truth, and projects live 3D evacuation zones.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" y="4690872"/>
            <a:ext cx="3364992" cy="1444752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764024"/>
            <a:ext cx="310896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369A1"/>
                </a:solidFill>
                <a:latin typeface="Arial"/>
              </a:defRPr>
            </a:pPr>
            <a:r>
              <a:t>⚡ Working Prototype &amp; Live Links:</a:t>
            </a:r>
          </a:p>
          <a:p>
            <a:pPr>
              <a:spcAft>
                <a:spcPts val="300"/>
              </a:spcAft>
            </a:pPr>
            <a:r>
              <a:rPr sz="780" b="1" u="sng">
                <a:solidFill>
                  <a:srgbClr val="0284C7"/>
                </a:solidFill>
                <a:latin typeface="Arial"/>
                <a:hlinkClick r:id="rId4"/>
              </a:rPr>
              <a:t>🔗 Live Cloud Platform: pyrosat-intelligence.onrender.com</a:t>
            </a:r>
          </a:p>
          <a:p>
            <a:r>
              <a:rPr sz="750">
                <a:solidFill>
                  <a:srgbClr val="475569"/>
                </a:solidFill>
                <a:latin typeface="Arial"/>
              </a:rPr>
              <a:t>🔗 Technical Defense &amp; Benchmark Replay: GROUND_TRUTH_DEFENSE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768" y="1115568"/>
            <a:ext cx="446227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80" b="1">
                <a:solidFill>
                  <a:srgbClr val="1E3A8A"/>
                </a:solidFill>
                <a:latin typeface="Arial"/>
              </a:defRPr>
            </a:pPr>
            <a:r>
              <a:t>PROPOSED SOLUTION: 4-LAYER ORBITAL-TO-GROUND ARCHITECTURE</a:t>
            </a:r>
          </a:p>
        </p:txBody>
      </p:sp>
      <p:pic>
        <p:nvPicPr>
          <p:cNvPr id="23" name="Picture 22" descr="orbital_to_ground_4layer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8768" y="1353312"/>
            <a:ext cx="4462272" cy="386791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858768" y="5276088"/>
            <a:ext cx="4462272" cy="87782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68496" y="5330952"/>
            <a:ext cx="4242816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1E3A8A"/>
                </a:solidFill>
                <a:latin typeface="Arial"/>
              </a:defRPr>
            </a:pPr>
            <a:r>
              <a:t>⚡ Full-Stack Orbital Intelligence Pipeline:</a:t>
            </a:r>
          </a:p>
          <a:p>
            <a:pPr>
              <a:defRPr sz="730">
                <a:solidFill>
                  <a:srgbClr val="334155"/>
                </a:solidFill>
                <a:latin typeface="Arial"/>
              </a:defRPr>
            </a:pPr>
            <a:r>
              <a:t>Space Telemetry (VIIRS) ➔ Sub-Pixel Planck Pyrometry (Tf &gt; 1100K) ➔ 10m ESA Land-Cover Ground Truth ➔ 3D Gaussian Plume Evacuation &amp; NDRF Dispatch.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115568"/>
            <a:ext cx="33832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80" b="1">
                <a:solidFill>
                  <a:srgbClr val="991B1B"/>
                </a:solidFill>
                <a:latin typeface="Arial"/>
              </a:defRPr>
            </a:pPr>
            <a:r>
              <a:t>CRITICAL RISK   vs   PYROSAT SOLUTION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67344" y="1371600"/>
            <a:ext cx="1545336" cy="62179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B91C1C"/>
                </a:solidFill>
                <a:latin typeface="Arial"/>
              </a:defRPr>
            </a:pPr>
            <a:r>
              <a:t>🔴 Coarse 375m Satellite Pixels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1517904"/>
            <a:ext cx="2926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1">
                <a:solidFill>
                  <a:srgbClr val="64748B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05288" y="1371600"/>
            <a:ext cx="1545336" cy="62179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15803D"/>
                </a:solidFill>
                <a:latin typeface="Arial"/>
              </a:defRPr>
            </a:pPr>
            <a:r>
              <a:t>🟢 Sub-Pixel Planck Pyrometry (Tf, Af)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67344" y="2103120"/>
            <a:ext cx="1545336" cy="62179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B91C1C"/>
                </a:solidFill>
                <a:latin typeface="Arial"/>
              </a:defRPr>
            </a:pPr>
            <a:r>
              <a:t>🔴 Routine Flares Mistaken as Fires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80" y="2249424"/>
            <a:ext cx="2926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1">
                <a:solidFill>
                  <a:srgbClr val="64748B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05288" y="2103120"/>
            <a:ext cx="1545336" cy="62179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15803D"/>
                </a:solidFill>
                <a:latin typeface="Arial"/>
              </a:defRPr>
            </a:pPr>
            <a:r>
              <a:t>🟢 2-Stage Hierarchical ML Shield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67344" y="2834640"/>
            <a:ext cx="1545336" cy="62179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B91C1C"/>
                </a:solidFill>
                <a:latin typeface="Arial"/>
              </a:defRPr>
            </a:pPr>
            <a:r>
              <a:t>🔴 Blind Toxic Gas Cloud Inhalation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2980944"/>
            <a:ext cx="2926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1">
                <a:solidFill>
                  <a:srgbClr val="64748B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05288" y="2834640"/>
            <a:ext cx="1545336" cy="62179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15803D"/>
                </a:solidFill>
                <a:latin typeface="Arial"/>
              </a:defRPr>
            </a:pPr>
            <a:r>
              <a:t>🟢 3D Gaussian Plume Standoff Rings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67344" y="3566160"/>
            <a:ext cx="1545336" cy="62179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B91C1C"/>
                </a:solidFill>
                <a:latin typeface="Arial"/>
              </a:defRPr>
            </a:pPr>
            <a:r>
              <a:t>🔴 Delayed Multi-Agency Dispatch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2680" y="3712464"/>
            <a:ext cx="2926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1">
                <a:solidFill>
                  <a:srgbClr val="64748B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05288" y="3566160"/>
            <a:ext cx="1545336" cy="62179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15803D"/>
                </a:solidFill>
                <a:latin typeface="Arial"/>
              </a:defRPr>
            </a:pPr>
            <a:r>
              <a:t>🟢 1-Click Automated NDRF Action Plan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344" y="4334256"/>
            <a:ext cx="1536192" cy="16916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94976" y="4334256"/>
            <a:ext cx="1755648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Tactical Validation: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t>Real-time 3D Gaussian toxic plume calculated using live Open-Meteo wind vectors with automated ERPG/IDLH evacuation rings.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3291840" y="1115568"/>
            <a:ext cx="13716" cy="4983480"/>
          </a:xfrm>
          <a:prstGeom prst="rect">
            <a:avLst/>
          </a:prstGeom>
          <a:solidFill>
            <a:srgbClr val="BE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291840" y="4160520"/>
            <a:ext cx="8622792" cy="13716"/>
          </a:xfrm>
          <a:prstGeom prst="rect">
            <a:avLst/>
          </a:prstGeom>
          <a:solidFill>
            <a:srgbClr val="BE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1133856"/>
            <a:ext cx="292608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00000"/>
                </a:solidFill>
                <a:latin typeface="Arial"/>
              </a:defRPr>
            </a:pPr>
            <a:r>
              <a:t>Hardware &amp; Software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NASA FIRMS Telemetry:</a:t>
            </a:r>
            <a:r>
              <a:rPr sz="850">
                <a:solidFill>
                  <a:srgbClr val="232323"/>
                </a:solidFill>
                <a:latin typeface="Arial"/>
              </a:rPr>
              <a:t> VIIRS (375m) &amp; MODIS (1km) dual-band NRT infrared radiance.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Sentinel-2 &amp; ESA LULC:</a:t>
            </a:r>
            <a:r>
              <a:rPr sz="850">
                <a:solidFill>
                  <a:srgbClr val="232323"/>
                </a:solidFill>
                <a:latin typeface="Arial"/>
              </a:rPr>
              <a:t> 10m land-cover &amp; Level-2A surface reflectance (NDVI/SWIR).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SciPy (Planck Pyrometry):</a:t>
            </a:r>
            <a:r>
              <a:rPr sz="850">
                <a:solidFill>
                  <a:srgbClr val="232323"/>
                </a:solidFill>
                <a:latin typeface="Arial"/>
              </a:rPr>
              <a:t> Dual-band Dozier inversion solving flame temp &amp; area.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LightGBM &amp; TreeSHAP:</a:t>
            </a:r>
            <a:r>
              <a:rPr sz="850">
                <a:solidFill>
                  <a:srgbClr val="232323"/>
                </a:solidFill>
                <a:latin typeface="Arial"/>
              </a:rPr>
              <a:t> 2-stage hierarchical ML classifier with exact local Shapley XAI.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CesiumJS (WebGL 3D):</a:t>
            </a:r>
            <a:r>
              <a:rPr sz="850">
                <a:solidFill>
                  <a:srgbClr val="232323"/>
                </a:solidFill>
                <a:latin typeface="Arial"/>
              </a:rPr>
              <a:t> Virtual 3D globe rendering terrain, 3D tiles &amp; hazard layers.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Open-Meteo &amp; Plume Model:</a:t>
            </a:r>
            <a:r>
              <a:rPr sz="850">
                <a:solidFill>
                  <a:srgbClr val="232323"/>
                </a:solidFill>
                <a:latin typeface="Arial"/>
              </a:rPr>
              <a:t> Pasquill-Gifford dispersion with live wind vectors.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FastAPI &amp; Node.js Gateway:</a:t>
            </a:r>
            <a:r>
              <a:rPr sz="850">
                <a:solidFill>
                  <a:srgbClr val="232323"/>
                </a:solidFill>
                <a:latin typeface="Arial"/>
              </a:rPr>
              <a:t> Sub-second REST inference API &amp; SSE real-time alerting.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PostGIS Spatial Database:</a:t>
            </a:r>
            <a:r>
              <a:rPr sz="850">
                <a:solidFill>
                  <a:srgbClr val="232323"/>
                </a:solidFill>
                <a:latin typeface="Arial"/>
              </a:rPr>
              <a:t> Industrial infrastructure &amp; boundary threat engine.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0" y="113385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 u="sng">
                <a:solidFill>
                  <a:srgbClr val="2B5B84"/>
                </a:solidFill>
                <a:latin typeface="Arial"/>
              </a:defRPr>
            </a:pPr>
            <a:r>
              <a:t>FLOW CHART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474720" y="1463040"/>
            <a:ext cx="8321040" cy="256032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br/>
            <a:r>
              <a:t>[ INSERT SYSTEM ARCHITECTURE / INGESTION-TO-DISPATCH FLOWCHART IMAGE HERE ]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(NASA FIRMS ➔ Dozier Planck Inversion ➔ 2-Stage ML Classifier ➔ TreeSHAP ➔ Gaussian Plume ➔ IAP Dispatch)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474720" y="4224528"/>
            <a:ext cx="3200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 u="sng">
                <a:solidFill>
                  <a:srgbClr val="2B5B84"/>
                </a:solidFill>
                <a:latin typeface="Arial"/>
              </a:defRPr>
            </a:pPr>
            <a:r>
              <a:t>3 LAYER APPROACH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474720" y="4526280"/>
            <a:ext cx="3566160" cy="155448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br/>
            <a:r>
              <a:t>[ INSERT 3-LAYER ARCHITECTURE MOCKUP ]</a:t>
            </a:r>
          </a:p>
          <a:p>
            <a:pPr algn="ctr">
              <a:defRPr sz="850">
                <a:solidFill>
                  <a:srgbClr val="94A3B8"/>
                </a:solidFill>
                <a:latin typeface="Arial"/>
              </a:defRPr>
            </a:pPr>
            <a:r>
              <a:t>L1: Sensing ➔ L2: Physics/ML ➔ L3: Dispatch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7223760" y="4343400"/>
            <a:ext cx="4572000" cy="1737360"/>
          </a:xfrm>
          <a:prstGeom prst="rect">
            <a:avLst/>
          </a:prstGeom>
          <a:solidFill>
            <a:srgbClr val="E1EEFA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GitHub link: </a:t>
            </a:r>
            <a:r>
              <a:rPr sz="1050" u="sng">
                <a:solidFill>
                  <a:srgbClr val="1D4ED8"/>
                </a:solidFill>
                <a:latin typeface="Arial"/>
              </a:rPr>
              <a:t>https://github.com/Narayana1729/SIH2026.git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Live Dashboard: </a:t>
            </a:r>
            <a:r>
              <a:rPr sz="1000">
                <a:solidFill>
                  <a:srgbClr val="2B5B84"/>
                </a:solidFill>
                <a:latin typeface="Arial"/>
              </a:rPr>
              <a:t>http://localhost:8080 (Cesium 3D WebGL HUD)</a:t>
            </a:r>
          </a:p>
          <a:p>
            <a:r>
              <a:rPr sz="1250" b="1">
                <a:solidFill>
                  <a:srgbClr val="DC2626"/>
                </a:solidFill>
                <a:latin typeface="Arial"/>
              </a:rPr>
              <a:t>Above 80% of the prototype is completed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56032" y="3566160"/>
            <a:ext cx="5184648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7472" y="1133856"/>
            <a:ext cx="4983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Feasibility Analysis: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Open-Data Architecture: </a:t>
            </a:r>
            <a:r>
              <a:rPr sz="950">
                <a:solidFill>
                  <a:srgbClr val="1E1E1E"/>
                </a:solidFill>
                <a:latin typeface="Arial"/>
              </a:rPr>
              <a:t>Zero dependence on costly commercial tasking; runs entirely on free, open NASA FIRMS, ESA Copernicus, and Open-Meteo feeds.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Tested Operational Prototype: </a:t>
            </a:r>
            <a:r>
              <a:rPr sz="950">
                <a:solidFill>
                  <a:srgbClr val="1E1E1E"/>
                </a:solidFill>
                <a:latin typeface="Arial"/>
              </a:rPr>
              <a:t>Full-stack system already implemented with 130 passing automated tests covering pyrometry, ML inference, and 3D UI rendering.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Low Hardware Footprint: </a:t>
            </a:r>
            <a:r>
              <a:rPr sz="950">
                <a:solidFill>
                  <a:srgbClr val="1E1E1E"/>
                </a:solidFill>
                <a:latin typeface="Arial"/>
              </a:rPr>
              <a:t>Efficient TreeSHAP DP and Dozier solvers run in sub-second inference on standard edge or cloud servers.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3657600"/>
            <a:ext cx="498348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Potential Challenges &amp; Risks: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Cloud &amp; Monsoon Obscuration: </a:t>
            </a:r>
            <a:r>
              <a:rPr sz="950">
                <a:solidFill>
                  <a:srgbClr val="1E1E1E"/>
                </a:solidFill>
                <a:latin typeface="Arial"/>
              </a:rPr>
              <a:t>Dense cloud cover attenuates thermal infrared emissions from orbit.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Orbital Revisit Latencies: </a:t>
            </a:r>
            <a:r>
              <a:rPr sz="950">
                <a:solidFill>
                  <a:srgbClr val="1E1E1E"/>
                </a:solidFill>
                <a:latin typeface="Arial"/>
              </a:rPr>
              <a:t>Sun-synchronous satellite passes leave gaps of 3-6 hours between revisits.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Reflective Solar Glint: </a:t>
            </a:r>
            <a:r>
              <a:rPr sz="950">
                <a:solidFill>
                  <a:srgbClr val="1E1E1E"/>
                </a:solidFill>
                <a:latin typeface="Arial"/>
              </a:rPr>
              <a:t>Highly reflective metal industrial roofs can mimic daytime thermal hotspots.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Strategies for Overcoming Challenges: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Multi-Constellation Satellite Fusion: </a:t>
            </a:r>
            <a:r>
              <a:rPr sz="950">
                <a:solidFill>
                  <a:srgbClr val="1E1E1E"/>
                </a:solidFill>
                <a:latin typeface="Arial"/>
              </a:rPr>
              <a:t>Combines VIIRS NOAA-20, NOAA-21, Suomi-NPP, and MODIS Aqua/Terra across complementary orbital nodes, reducing revisit latency.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Sentinel-2 Scene Classification (SCL): </a:t>
            </a:r>
            <a:r>
              <a:rPr sz="950">
                <a:solidFill>
                  <a:srgbClr val="1E1E1E"/>
                </a:solidFill>
                <a:latin typeface="Arial"/>
              </a:rPr>
              <a:t>Integrates cloud probability and cirrus masks to quarantine obstructed pixels without generating false-negative alerts.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90-Day Spatio-Temporal Persistence Memory: </a:t>
            </a:r>
            <a:r>
              <a:rPr sz="950">
                <a:solidFill>
                  <a:srgbClr val="1E1E1E"/>
                </a:solidFill>
                <a:latin typeface="Arial"/>
              </a:rPr>
              <a:t>Maintains historical heat baselines at known facilities, filtering out static solar glint while instantly flagging genuine flaring surges.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Multi-Band Invariant Ratio Verification: </a:t>
            </a:r>
            <a:r>
              <a:rPr sz="950">
                <a:solidFill>
                  <a:srgbClr val="1E1E1E"/>
                </a:solidFill>
                <a:latin typeface="Arial"/>
              </a:rPr>
              <a:t>Uses MWIR/LWIR radiance ratios and night-pass observations to reject non-combustion thermal reflections.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56032" y="3566160"/>
            <a:ext cx="5184648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7472" y="1133856"/>
            <a:ext cx="4983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Target Audience &amp; Stakeholders: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Disaster Management Authorities: </a:t>
            </a:r>
            <a:r>
              <a:rPr sz="950">
                <a:solidFill>
                  <a:srgbClr val="1E1E1E"/>
                </a:solidFill>
                <a:latin typeface="Arial"/>
              </a:rPr>
              <a:t>National &amp; State Disaster Authorities (NDMA, SDMA, NDRF battalions).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Environmental &amp; Safety Regulators: </a:t>
            </a:r>
            <a:r>
              <a:rPr sz="950">
                <a:solidFill>
                  <a:srgbClr val="1E1E1E"/>
                </a:solidFill>
                <a:latin typeface="Arial"/>
              </a:rPr>
              <a:t>Central &amp; State Pollution Control Boards (CPCB, SPCB, PESO).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Industrial Facility Operators: </a:t>
            </a:r>
            <a:r>
              <a:rPr sz="950">
                <a:solidFill>
                  <a:srgbClr val="1E1E1E"/>
                </a:solidFill>
                <a:latin typeface="Arial"/>
              </a:rPr>
              <a:t>Safety Operations Centers at refineries, chemical hubs, and steel plants.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Forest &amp; Wilderness Services: </a:t>
            </a:r>
            <a:r>
              <a:rPr sz="950">
                <a:solidFill>
                  <a:srgbClr val="1E1E1E"/>
                </a:solidFill>
                <a:latin typeface="Arial"/>
              </a:rPr>
              <a:t>Forest Protection Divisions guarding national parks and biosphere reserves.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3657600"/>
            <a:ext cx="498348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Social &amp; Economic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Life Safety in Toxic Corridors: </a:t>
            </a:r>
            <a:r>
              <a:rPr sz="950">
                <a:solidFill>
                  <a:srgbClr val="1E1E1E"/>
                </a:solidFill>
                <a:latin typeface="Arial"/>
              </a:rPr>
              <a:t>Proactive evacuation isopleths protect civilian settlements downwind of chemical disasters.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Asset &amp; Infrastructure Protection: </a:t>
            </a:r>
            <a:r>
              <a:rPr sz="950">
                <a:solidFill>
                  <a:srgbClr val="1E1E1E"/>
                </a:solidFill>
                <a:latin typeface="Arial"/>
              </a:rPr>
              <a:t>Detects abnormal flare blowouts before uncontained catastrophic refinery explosions occur.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Slashes False Alarm Overhead: </a:t>
            </a:r>
            <a:r>
              <a:rPr sz="950">
                <a:solidFill>
                  <a:srgbClr val="1E1E1E"/>
                </a:solidFill>
                <a:latin typeface="Arial"/>
              </a:rPr>
              <a:t>Eliminates wasteful emergency mobilization caused by routine flaring misidentifications.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Environmental &amp; Governance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Industrial Emissions Compliance Auditing: </a:t>
            </a:r>
            <a:r>
              <a:rPr sz="950">
                <a:solidFill>
                  <a:srgbClr val="1E1E1E"/>
                </a:solidFill>
                <a:latin typeface="Arial"/>
              </a:rPr>
              <a:t>Provides empirical, continuous satellite monitoring of permitted vs. illegal flaring and fugitive emissions across India's industrial belts.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Forest Boundary Encroachment Warning: </a:t>
            </a:r>
            <a:r>
              <a:rPr sz="950">
                <a:solidFill>
                  <a:srgbClr val="1E1E1E"/>
                </a:solidFill>
                <a:latin typeface="Arial"/>
              </a:rPr>
              <a:t>Geodesic buffer engine computes real-time threat distance to protected wilderness reserves, stopping wildfires before boundary penetration.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Data-Driven Emergency Governance: </a:t>
            </a:r>
            <a:r>
              <a:rPr sz="950">
                <a:solidFill>
                  <a:srgbClr val="1E1E1E"/>
                </a:solidFill>
                <a:latin typeface="Arial"/>
              </a:rPr>
              <a:t>Standardizes emergency response with automated Incident Action Plans (IAPs), HazMat UN placards, and immediate responder coordination.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Climate &amp; Methane Mitigation: </a:t>
            </a:r>
            <a:r>
              <a:rPr sz="950">
                <a:solidFill>
                  <a:srgbClr val="1E1E1E"/>
                </a:solidFill>
                <a:latin typeface="Arial"/>
              </a:rPr>
              <a:t>Quantifies high-temperature industrial combustion volumes to support national carbon accounting and fugitive methane reduction targets.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 descr="pyrosat_slide6_references_fi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45920" y="109728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53312"/>
            <a:ext cx="11484864" cy="1920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9"/>
              </a:rPr>
              <a:t>NASA FIRMS
</a:t>
            </a:r>
            <a:r>
              <a:rPr sz="950" b="1" u="sng">
                <a:solidFill>
                  <a:srgbClr val="0E4BA0"/>
                </a:solidFill>
                <a:latin typeface="Arial"/>
                <a:hlinkClick r:id="rId9"/>
              </a:rPr>
              <a:t>Telemetry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NRT Thermal Hotspot Ingestion — VIIRS 375m &amp; MODIS 1km active fire feeds.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960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0"/>
              </a:rPr>
              <a:t>Dozier Pyrometry
</a:t>
            </a:r>
            <a:r>
              <a:rPr sz="950" b="1" u="sng">
                <a:solidFill>
                  <a:srgbClr val="0E4BA0"/>
                </a:solidFill>
                <a:latin typeface="Arial"/>
                <a:hlinkClick r:id="rId10"/>
              </a:rPr>
              <a:t>(1981)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Sub-Pixel Planck Inversion — Resolves flame temp (Tf &gt; 1100 K) &amp; sub-pixel area (Af).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030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1"/>
              </a:rPr>
              <a:t>ESA WorldCover
</a:t>
            </a:r>
            <a:r>
              <a:rPr sz="950" b="1" u="sng">
                <a:solidFill>
                  <a:srgbClr val="0E4BA0"/>
                </a:solidFill>
                <a:latin typeface="Arial"/>
                <a:hlinkClick r:id="rId11"/>
              </a:rPr>
              <a:t>10m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10m Surface Ground Truth — Sentinel-1/2 LULC classifying Built-up (Class 50) vs Cropland.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099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2"/>
              </a:rPr>
              <a:t>GEM &amp; World Bank
</a:t>
            </a:r>
            <a:r>
              <a:rPr sz="950" b="1" u="sng">
                <a:solidFill>
                  <a:srgbClr val="0E4BA0"/>
                </a:solidFill>
                <a:latin typeface="Arial"/>
                <a:hlinkClick r:id="rId12"/>
              </a:rPr>
              <a:t>GGFR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2,000+ Facility Registry — Catalog of Indian refineries, petrochemical hubs &amp; flaring stacks.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169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3"/>
              </a:rPr>
              <a:t>NOAA CAMEO &amp;
</a:t>
            </a:r>
            <a:r>
              <a:rPr sz="950" b="1" u="sng">
                <a:solidFill>
                  <a:srgbClr val="0E4BA0"/>
                </a:solidFill>
                <a:latin typeface="Arial"/>
                <a:hlinkClick r:id="rId13"/>
              </a:rPr>
              <a:t>NIOSH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Chemical &amp; HazMat Profiles — Reactivity data, UN placards &amp; toxic thresholds.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238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4"/>
              </a:rPr>
              <a:t>EPA / Briggs
</a:t>
            </a:r>
            <a:r>
              <a:rPr sz="950" b="1" u="sng">
                <a:solidFill>
                  <a:srgbClr val="0E4BA0"/>
                </a:solidFill>
                <a:latin typeface="Arial"/>
                <a:hlinkClick r:id="rId14"/>
              </a:rPr>
              <a:t>Plume Rise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Atmospheric Dispersion — Buoyant plume rise &amp; Pasquill-Gifford Gaussian dispersion.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308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5"/>
              </a:rPr>
              <a:t>NDRF &amp; HazMat
</a:t>
            </a:r>
            <a:r>
              <a:rPr sz="950" b="1" u="sng">
                <a:solidFill>
                  <a:srgbClr val="0E4BA0"/>
                </a:solidFill>
                <a:latin typeface="Arial"/>
                <a:hlinkClick r:id="rId15"/>
              </a:rPr>
              <a:t>ERG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Tactical Standoff &amp; Routing — Emergency chemical standoff, isolation corridors &amp; automated dispatch.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3401568"/>
            <a:ext cx="1024128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44200" y="3218688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1">
                <a:solidFill>
                  <a:srgbClr val="94A3B8"/>
                </a:solidFill>
                <a:latin typeface="Arial"/>
              </a:defRPr>
            </a:pPr>
            <a:r>
              <a:t>UI/UX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3547872"/>
            <a:ext cx="3621024" cy="2148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7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  <a:latin typeface="Arial"/>
              </a:defRPr>
            </a:pPr>
            <a:r>
              <a:t>3D Geospatial HUD (Cesium WebGL)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Real-time thermal clustering across Indian industrial corridors.</a:t>
            </a: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5347995472" y="3547872"/>
            <a:ext cx="3621024" cy="21488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595347995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3D Toxic Plume &amp; Evacuation Rings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Atmospheric dispersion driven by live Open-Meteo wind vectors.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0695643472" y="3547872"/>
            <a:ext cx="3621024" cy="2148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190695643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D97706"/>
                </a:solidFill>
                <a:latin typeface="Arial"/>
              </a:defRPr>
            </a:pPr>
            <a:r>
              <a:t>CAMEO HazMat Dossier &amp; NDRF Dispatch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Automated Incident Action Plan with SMS/WhatsApp responder routing.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